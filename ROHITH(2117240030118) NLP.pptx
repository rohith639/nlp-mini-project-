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8-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embeddedFontLst>
    <p:embeddedFont>
      <p:font typeface="Noto Sans Bold"/>
      <p:regular r:id="rId201314"/>
    </p:embeddedFont>
    <p:embeddedFont>
      <p:font typeface="Noto Sans"/>
      <p:regular r:id="rId201315"/>
    </p:embeddedFont>
    <p:embeddedFont>
      <p:font typeface="Noto Sans Medium"/>
      <p:regular r:id="rId201316"/>
    </p:embeddedFont>
    <p:embeddedFont>
      <p:font typeface="Sora Medium"/>
      <p:regular r:id="rId201317"/>
    </p:embeddedFont>
    <p:embeddedFont>
      <p:font typeface="Sora"/>
      <p:regular r:id="rId201318"/>
    </p:embeddedFont>
    <p:embeddedFont>
      <p:font typeface="Sora Bold"/>
      <p:regular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201314" Type="http://schemas.openxmlformats.org/officeDocument/2006/relationships/font" Target="fonts/201314.fntdata"/><Relationship Id="rId201315" Type="http://schemas.openxmlformats.org/officeDocument/2006/relationships/font" Target="fonts/201315.fntdata"/><Relationship Id="rId201316" Type="http://schemas.openxmlformats.org/officeDocument/2006/relationships/font" Target="fonts/201316.fntdata"/><Relationship Id="rId201317" Type="http://schemas.openxmlformats.org/officeDocument/2006/relationships/font" Target="fonts/201317.fntdata"/><Relationship Id="rId201318" Type="http://schemas.openxmlformats.org/officeDocument/2006/relationships/font" Target="fonts/201318.fntdata"/><Relationship Id="rId201319" Type="http://schemas.openxmlformats.org/officeDocument/2006/relationships/font" Target="fonts/201319.fntdata"/><Relationship Id="rId201320" Type="http://schemas.openxmlformats.org/officeDocument/2006/relationships/font" Target="fonts/201320.fntdata"/><Relationship Id="rId201321" Type="http://schemas.openxmlformats.org/officeDocument/2006/relationships/font" Target="fonts/201321.fntdata"/><Relationship Id="rId201322" Type="http://schemas.openxmlformats.org/officeDocument/2006/relationships/font" Target="fonts/201322.fntdata"/><Relationship Id="rId201323" Type="http://schemas.openxmlformats.org/officeDocument/2006/relationships/font" Target="fonts/20132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eg"/><Relationship Id="rId2" Type="http://schemas.openxmlformats.org/officeDocument/2006/relationships/image" Target="../media/image-1002-2.png"/><Relationship Id="rId3" Type="http://schemas.openxmlformats.org/officeDocument/2006/relationships/hyperlink" Target="https://gamma.app/?utm_source=made-with-gamma" TargetMode="External"/><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7070C"/>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1.png"/><Relationship Id="rId4" Type="http://schemas.openxmlformats.org/officeDocument/2006/relationships/image" Target="../media/image-8-2.svg"/><Relationship Id="rId5" Type="http://schemas.openxmlformats.org/officeDocument/2006/relationships/image" Target="../media/image-8-1.png"/><Relationship Id="rId6" Type="http://schemas.openxmlformats.org/officeDocument/2006/relationships/image" Target="../media/image-8-2.sv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1254423"/>
            <a:ext cx="10868745" cy="516731"/>
          </a:xfrm>
          <a:prstGeom prst="rect">
            <a:avLst/>
          </a:prstGeom>
          <a:noFill/>
          <a:ln/>
        </p:spPr>
        <p:txBody>
          <a:bodyPr wrap="none" lIns="0" tIns="0" rIns="0" bIns="0" rtlCol="0" anchor="t"/>
          <a:lstStyle/>
          <a:p>
            <a:pPr algn="ctr" indent="0" marL="0">
              <a:lnSpc>
                <a:spcPct val="104000"/>
              </a:lnSpc>
              <a:buNone/>
            </a:pPr>
            <a:r>
              <a:rPr lang="en-US" sz="3250" dirty="0">
                <a:solidFill>
                  <a:srgbClr val="97B8FF"/>
                </a:solidFill>
                <a:latin typeface="Sora Medium" pitchFamily="34" charset="0"/>
                <a:ea typeface="Sora Medium" pitchFamily="34" charset="-122"/>
                <a:cs typeface="Sora Medium" pitchFamily="34" charset="-120"/>
              </a:rPr>
              <a:t>English Inflectional and Derivational Morphology</a:t>
            </a:r>
            <a:endParaRPr lang="en-US" sz="3250" dirty="0"/>
          </a:p>
        </p:txBody>
      </p:sp>
      <p:sp>
        <p:nvSpPr>
          <p:cNvPr id="3" name="Text 1"/>
          <p:cNvSpPr/>
          <p:nvPr/>
        </p:nvSpPr>
        <p:spPr>
          <a:xfrm>
            <a:off x="661475" y="2101850"/>
            <a:ext cx="10868745" cy="1244501"/>
          </a:xfrm>
          <a:prstGeom prst="rect">
            <a:avLst/>
          </a:prstGeom>
          <a:noFill/>
          <a:ln/>
        </p:spPr>
        <p:txBody>
          <a:bodyPr wrap="square" lIns="0" tIns="0" rIns="0" bIns="0" rtlCol="0" anchor="t"/>
          <a:lstStyle/>
          <a:p>
            <a:pPr algn="ctr" indent="0" marL="0">
              <a:lnSpc>
                <a:spcPct val="133000"/>
              </a:lnSpc>
              <a:spcAft>
                <a:spcPts val="1450"/>
              </a:spcAft>
              <a:buNone/>
            </a:pPr>
            <a:r>
              <a:rPr lang="en-US" sz="1300" dirty="0">
                <a:solidFill>
                  <a:srgbClr val="E0D6DE"/>
                </a:solidFill>
                <a:latin typeface="Noto Sans" pitchFamily="34" charset="0"/>
                <a:ea typeface="Noto Sans" pitchFamily="34" charset="-122"/>
                <a:cs typeface="Noto Sans" pitchFamily="34" charset="-120"/>
              </a:rPr>
              <a:t>A Rule-Based Morphological Analysis System — Parsing Accuracy, Structural Complexity, and Statistical Validation</a:t>
            </a:r>
            <a:endParaRPr lang="en-US" sz="1300" dirty="0"/>
          </a:p>
          <a:p>
            <a:pPr algn="ctr" indent="0" marL="0">
              <a:lnSpc>
                <a:spcPct val="133000"/>
              </a:lnSpc>
              <a:buNone/>
            </a:pPr>
            <a:r>
              <a:rPr lang="en-US" sz="1300" b="1" dirty="0">
                <a:solidFill>
                  <a:srgbClr val="E0D6DE"/>
                </a:solidFill>
                <a:latin typeface="Noto Sans Bold" pitchFamily="34" charset="0"/>
                <a:ea typeface="Noto Sans Bold" pitchFamily="34" charset="-122"/>
                <a:cs typeface="Noto Sans Bold" pitchFamily="34" charset="-120"/>
              </a:rPr>
              <a:t>Name:</a:t>
            </a:r>
            <a:pPr algn="ctr" indent="0" marL="0">
              <a:lnSpc>
                <a:spcPct val="133000"/>
              </a:lnSpc>
              <a:buNone/>
            </a:pPr>
            <a:r>
              <a:rPr lang="en-US" sz="1300" dirty="0">
                <a:solidFill>
                  <a:srgbClr val="E0D6DE"/>
                </a:solidFill>
                <a:latin typeface="Noto Sans" pitchFamily="34" charset="0"/>
                <a:ea typeface="Noto Sans" pitchFamily="34" charset="-122"/>
                <a:cs typeface="Noto Sans" pitchFamily="34" charset="-120"/>
              </a:rPr>
              <a:t> ROHITH</a:t>
            </a:r>
            <a:endParaRPr lang="en-US" sz="1300" dirty="0"/>
          </a:p>
          <a:p>
            <a:pPr algn="ctr" indent="0" marL="0">
              <a:lnSpc>
                <a:spcPct val="133000"/>
              </a:lnSpc>
              <a:buNone/>
            </a:pPr>
            <a:r>
              <a:rPr lang="en-US" sz="1300" b="1" dirty="0">
                <a:solidFill>
                  <a:srgbClr val="E0D6DE"/>
                </a:solidFill>
                <a:latin typeface="Noto Sans Bold" pitchFamily="34" charset="0"/>
                <a:ea typeface="Noto Sans Bold" pitchFamily="34" charset="-122"/>
                <a:cs typeface="Noto Sans Bold" pitchFamily="34" charset="-120"/>
              </a:rPr>
              <a:t>Department:</a:t>
            </a:r>
            <a:pPr algn="ctr" indent="0" marL="0">
              <a:lnSpc>
                <a:spcPct val="133000"/>
              </a:lnSpc>
              <a:buNone/>
            </a:pPr>
            <a:r>
              <a:rPr lang="en-US" sz="1300" dirty="0">
                <a:solidFill>
                  <a:srgbClr val="E0D6DE"/>
                </a:solidFill>
                <a:latin typeface="Noto Sans" pitchFamily="34" charset="0"/>
                <a:ea typeface="Noto Sans" pitchFamily="34" charset="-122"/>
                <a:cs typeface="Noto Sans" pitchFamily="34" charset="-120"/>
              </a:rPr>
              <a:t> AIML</a:t>
            </a:r>
            <a:endParaRPr lang="en-US" sz="1300" dirty="0"/>
          </a:p>
          <a:p>
            <a:pPr algn="ctr" indent="0" marL="0">
              <a:lnSpc>
                <a:spcPct val="133000"/>
              </a:lnSpc>
              <a:buNone/>
            </a:pPr>
            <a:r>
              <a:rPr lang="en-US" sz="1300" b="1" dirty="0">
                <a:solidFill>
                  <a:srgbClr val="E0D6DE"/>
                </a:solidFill>
                <a:latin typeface="Noto Sans Bold" pitchFamily="34" charset="0"/>
                <a:ea typeface="Noto Sans Bold" pitchFamily="34" charset="-122"/>
                <a:cs typeface="Noto Sans Bold" pitchFamily="34" charset="-120"/>
              </a:rPr>
              <a:t>Roll Number:</a:t>
            </a:r>
            <a:pPr algn="ctr" indent="0" marL="0">
              <a:lnSpc>
                <a:spcPct val="133000"/>
              </a:lnSpc>
              <a:buNone/>
            </a:pPr>
            <a:r>
              <a:rPr lang="en-US" sz="1300" dirty="0">
                <a:solidFill>
                  <a:srgbClr val="E0D6DE"/>
                </a:solidFill>
                <a:latin typeface="Noto Sans" pitchFamily="34" charset="0"/>
                <a:ea typeface="Noto Sans" pitchFamily="34" charset="-122"/>
                <a:cs typeface="Noto Sans" pitchFamily="34" charset="-120"/>
              </a:rPr>
              <a:t> 2117240030118</a:t>
            </a:r>
            <a:endParaRPr lang="en-US" sz="1300" dirty="0"/>
          </a:p>
        </p:txBody>
      </p:sp>
      <p:sp>
        <p:nvSpPr>
          <p:cNvPr id="4" name="Shape 2"/>
          <p:cNvSpPr/>
          <p:nvPr/>
        </p:nvSpPr>
        <p:spPr>
          <a:xfrm>
            <a:off x="661475" y="3532386"/>
            <a:ext cx="5351725" cy="952897"/>
          </a:xfrm>
          <a:prstGeom prst="roundRect">
            <a:avLst>
              <a:gd name="adj" fmla="val 2603"/>
            </a:avLst>
          </a:prstGeom>
          <a:solidFill>
            <a:srgbClr val="26262B"/>
          </a:solidFill>
          <a:ln/>
        </p:spPr>
      </p:sp>
      <p:sp>
        <p:nvSpPr>
          <p:cNvPr id="5" name="Text 3"/>
          <p:cNvSpPr/>
          <p:nvPr/>
        </p:nvSpPr>
        <p:spPr>
          <a:xfrm>
            <a:off x="826769" y="3697684"/>
            <a:ext cx="5021137" cy="258465"/>
          </a:xfrm>
          <a:prstGeom prst="rect">
            <a:avLst/>
          </a:prstGeom>
          <a:noFill/>
          <a:ln/>
        </p:spPr>
        <p:txBody>
          <a:bodyPr wrap="none" lIns="0" tIns="0" rIns="0" bIns="0" rtlCol="0" anchor="t"/>
          <a:lstStyle/>
          <a:p>
            <a:pPr algn="l" indent="0" marL="0">
              <a:lnSpc>
                <a:spcPct val="104000"/>
              </a:lnSpc>
              <a:buNone/>
            </a:pPr>
            <a:r>
              <a:rPr lang="en-US" sz="1600" dirty="0">
                <a:solidFill>
                  <a:srgbClr val="E0D6DE"/>
                </a:solidFill>
                <a:latin typeface="Sora Medium" pitchFamily="34" charset="0"/>
                <a:ea typeface="Sora Medium" pitchFamily="34" charset="-122"/>
                <a:cs typeface="Sora Medium" pitchFamily="34" charset="-120"/>
              </a:rPr>
              <a:t>Dataset</a:t>
            </a:r>
            <a:endParaRPr lang="en-US" sz="1600" dirty="0"/>
          </a:p>
        </p:txBody>
      </p:sp>
      <p:sp>
        <p:nvSpPr>
          <p:cNvPr id="6" name="Text 4"/>
          <p:cNvSpPr/>
          <p:nvPr/>
        </p:nvSpPr>
        <p:spPr>
          <a:xfrm>
            <a:off x="826769" y="4055368"/>
            <a:ext cx="5021137" cy="264616"/>
          </a:xfrm>
          <a:prstGeom prst="rect">
            <a:avLst/>
          </a:prstGeom>
          <a:noFill/>
          <a:ln/>
        </p:spPr>
        <p:txBody>
          <a:bodyPr wrap="none" lIns="0" tIns="0" rIns="0" bIns="0" rtlCol="0" anchor="t"/>
          <a:lstStyle/>
          <a:p>
            <a:pPr algn="l" indent="0" marL="0">
              <a:lnSpc>
                <a:spcPct val="133000"/>
              </a:lnSpc>
              <a:buNone/>
            </a:pPr>
            <a:r>
              <a:rPr lang="en-US" sz="1300" dirty="0">
                <a:solidFill>
                  <a:srgbClr val="E0D6DE"/>
                </a:solidFill>
                <a:latin typeface="Noto Sans" pitchFamily="34" charset="0"/>
                <a:ea typeface="Noto Sans" pitchFamily="34" charset="-122"/>
                <a:cs typeface="Noto Sans" pitchFamily="34" charset="-120"/>
              </a:rPr>
              <a:t>1,000 English word forms analyzed</a:t>
            </a:r>
            <a:endParaRPr lang="en-US" sz="1300" dirty="0"/>
          </a:p>
        </p:txBody>
      </p:sp>
      <p:sp>
        <p:nvSpPr>
          <p:cNvPr id="7" name="Shape 5"/>
          <p:cNvSpPr/>
          <p:nvPr/>
        </p:nvSpPr>
        <p:spPr>
          <a:xfrm>
            <a:off x="6178495" y="3532386"/>
            <a:ext cx="5351725" cy="952897"/>
          </a:xfrm>
          <a:prstGeom prst="roundRect">
            <a:avLst>
              <a:gd name="adj" fmla="val 2603"/>
            </a:avLst>
          </a:prstGeom>
          <a:solidFill>
            <a:srgbClr val="26262B"/>
          </a:solidFill>
          <a:ln/>
        </p:spPr>
      </p:sp>
      <p:sp>
        <p:nvSpPr>
          <p:cNvPr id="8" name="Text 6"/>
          <p:cNvSpPr/>
          <p:nvPr/>
        </p:nvSpPr>
        <p:spPr>
          <a:xfrm>
            <a:off x="6343789" y="3697684"/>
            <a:ext cx="5021137" cy="258465"/>
          </a:xfrm>
          <a:prstGeom prst="rect">
            <a:avLst/>
          </a:prstGeom>
          <a:noFill/>
          <a:ln/>
        </p:spPr>
        <p:txBody>
          <a:bodyPr wrap="none" lIns="0" tIns="0" rIns="0" bIns="0" rtlCol="0" anchor="t"/>
          <a:lstStyle/>
          <a:p>
            <a:pPr algn="l" indent="0" marL="0">
              <a:lnSpc>
                <a:spcPct val="104000"/>
              </a:lnSpc>
              <a:buNone/>
            </a:pPr>
            <a:r>
              <a:rPr lang="en-US" sz="1600" dirty="0">
                <a:solidFill>
                  <a:srgbClr val="E0D6DE"/>
                </a:solidFill>
                <a:latin typeface="Sora Medium" pitchFamily="34" charset="0"/>
                <a:ea typeface="Sora Medium" pitchFamily="34" charset="-122"/>
                <a:cs typeface="Sora Medium" pitchFamily="34" charset="-120"/>
              </a:rPr>
              <a:t>Inflectional Accuracy</a:t>
            </a:r>
            <a:endParaRPr lang="en-US" sz="1600" dirty="0"/>
          </a:p>
        </p:txBody>
      </p:sp>
      <p:sp>
        <p:nvSpPr>
          <p:cNvPr id="9" name="Text 7"/>
          <p:cNvSpPr/>
          <p:nvPr/>
        </p:nvSpPr>
        <p:spPr>
          <a:xfrm>
            <a:off x="6343789" y="4055368"/>
            <a:ext cx="5021137" cy="264616"/>
          </a:xfrm>
          <a:prstGeom prst="rect">
            <a:avLst/>
          </a:prstGeom>
          <a:noFill/>
          <a:ln/>
        </p:spPr>
        <p:txBody>
          <a:bodyPr wrap="none" lIns="0" tIns="0" rIns="0" bIns="0" rtlCol="0" anchor="t"/>
          <a:lstStyle/>
          <a:p>
            <a:pPr algn="l" indent="0" marL="0">
              <a:lnSpc>
                <a:spcPct val="133000"/>
              </a:lnSpc>
              <a:buNone/>
            </a:pPr>
            <a:r>
              <a:rPr lang="en-US" sz="1300" dirty="0">
                <a:solidFill>
                  <a:srgbClr val="97B8FF"/>
                </a:solidFill>
                <a:latin typeface="Noto Sans" pitchFamily="34" charset="0"/>
                <a:ea typeface="Noto Sans" pitchFamily="34" charset="-122"/>
                <a:cs typeface="Noto Sans" pitchFamily="34" charset="-120"/>
              </a:rPr>
              <a:t>92.0%</a:t>
            </a:r>
            <a:pPr algn="l" indent="0" marL="0">
              <a:lnSpc>
                <a:spcPct val="133000"/>
              </a:lnSpc>
              <a:buNone/>
            </a:pPr>
            <a:r>
              <a:rPr lang="en-US" sz="1300" dirty="0">
                <a:solidFill>
                  <a:srgbClr val="E0D6DE"/>
                </a:solidFill>
                <a:latin typeface="Noto Sans" pitchFamily="34" charset="0"/>
                <a:ea typeface="Noto Sans" pitchFamily="34" charset="-122"/>
                <a:cs typeface="Noto Sans" pitchFamily="34" charset="-120"/>
              </a:rPr>
              <a:t> correctly parsed</a:t>
            </a:r>
            <a:endParaRPr lang="en-US" sz="1300" dirty="0"/>
          </a:p>
        </p:txBody>
      </p:sp>
      <p:sp>
        <p:nvSpPr>
          <p:cNvPr id="10" name="Shape 8"/>
          <p:cNvSpPr/>
          <p:nvPr/>
        </p:nvSpPr>
        <p:spPr>
          <a:xfrm>
            <a:off x="661475" y="4650581"/>
            <a:ext cx="5351725" cy="952897"/>
          </a:xfrm>
          <a:prstGeom prst="roundRect">
            <a:avLst>
              <a:gd name="adj" fmla="val 2603"/>
            </a:avLst>
          </a:prstGeom>
          <a:solidFill>
            <a:srgbClr val="26262B"/>
          </a:solidFill>
          <a:ln/>
        </p:spPr>
      </p:sp>
      <p:sp>
        <p:nvSpPr>
          <p:cNvPr id="11" name="Text 9"/>
          <p:cNvSpPr/>
          <p:nvPr/>
        </p:nvSpPr>
        <p:spPr>
          <a:xfrm>
            <a:off x="826769" y="4815880"/>
            <a:ext cx="5021137" cy="258465"/>
          </a:xfrm>
          <a:prstGeom prst="rect">
            <a:avLst/>
          </a:prstGeom>
          <a:noFill/>
          <a:ln/>
        </p:spPr>
        <p:txBody>
          <a:bodyPr wrap="none" lIns="0" tIns="0" rIns="0" bIns="0" rtlCol="0" anchor="t"/>
          <a:lstStyle/>
          <a:p>
            <a:pPr algn="l" indent="0" marL="0">
              <a:lnSpc>
                <a:spcPct val="104000"/>
              </a:lnSpc>
              <a:buNone/>
            </a:pPr>
            <a:r>
              <a:rPr lang="en-US" sz="1600" dirty="0">
                <a:solidFill>
                  <a:srgbClr val="E0D6DE"/>
                </a:solidFill>
                <a:latin typeface="Sora Medium" pitchFamily="34" charset="0"/>
                <a:ea typeface="Sora Medium" pitchFamily="34" charset="-122"/>
                <a:cs typeface="Sora Medium" pitchFamily="34" charset="-120"/>
              </a:rPr>
              <a:t>Derivational Accuracy</a:t>
            </a:r>
            <a:endParaRPr lang="en-US" sz="1600" dirty="0"/>
          </a:p>
        </p:txBody>
      </p:sp>
      <p:sp>
        <p:nvSpPr>
          <p:cNvPr id="12" name="Text 10"/>
          <p:cNvSpPr/>
          <p:nvPr/>
        </p:nvSpPr>
        <p:spPr>
          <a:xfrm>
            <a:off x="826769" y="5173563"/>
            <a:ext cx="5021137" cy="264616"/>
          </a:xfrm>
          <a:prstGeom prst="rect">
            <a:avLst/>
          </a:prstGeom>
          <a:noFill/>
          <a:ln/>
        </p:spPr>
        <p:txBody>
          <a:bodyPr wrap="none" lIns="0" tIns="0" rIns="0" bIns="0" rtlCol="0" anchor="t"/>
          <a:lstStyle/>
          <a:p>
            <a:pPr algn="l" indent="0" marL="0">
              <a:lnSpc>
                <a:spcPct val="133000"/>
              </a:lnSpc>
              <a:buNone/>
            </a:pPr>
            <a:r>
              <a:rPr lang="en-US" sz="1300" dirty="0">
                <a:solidFill>
                  <a:srgbClr val="7AF0FF"/>
                </a:solidFill>
                <a:latin typeface="Noto Sans" pitchFamily="34" charset="0"/>
                <a:ea typeface="Noto Sans" pitchFamily="34" charset="-122"/>
                <a:cs typeface="Noto Sans" pitchFamily="34" charset="-120"/>
              </a:rPr>
              <a:t>81.0%</a:t>
            </a:r>
            <a:pPr algn="l" indent="0" marL="0">
              <a:lnSpc>
                <a:spcPct val="133000"/>
              </a:lnSpc>
              <a:buNone/>
            </a:pPr>
            <a:r>
              <a:rPr lang="en-US" sz="1300" dirty="0">
                <a:solidFill>
                  <a:srgbClr val="E0D6DE"/>
                </a:solidFill>
                <a:latin typeface="Noto Sans" pitchFamily="34" charset="0"/>
                <a:ea typeface="Noto Sans" pitchFamily="34" charset="-122"/>
                <a:cs typeface="Noto Sans" pitchFamily="34" charset="-120"/>
              </a:rPr>
              <a:t> correctly parsed</a:t>
            </a:r>
            <a:endParaRPr lang="en-US" sz="1300" dirty="0"/>
          </a:p>
        </p:txBody>
      </p:sp>
      <p:sp>
        <p:nvSpPr>
          <p:cNvPr id="13" name="Shape 11"/>
          <p:cNvSpPr/>
          <p:nvPr/>
        </p:nvSpPr>
        <p:spPr>
          <a:xfrm>
            <a:off x="6178495" y="4650581"/>
            <a:ext cx="5351725" cy="952897"/>
          </a:xfrm>
          <a:prstGeom prst="roundRect">
            <a:avLst>
              <a:gd name="adj" fmla="val 2603"/>
            </a:avLst>
          </a:prstGeom>
          <a:solidFill>
            <a:srgbClr val="26262B"/>
          </a:solidFill>
          <a:ln/>
        </p:spPr>
      </p:sp>
      <p:sp>
        <p:nvSpPr>
          <p:cNvPr id="14" name="Text 12"/>
          <p:cNvSpPr/>
          <p:nvPr/>
        </p:nvSpPr>
        <p:spPr>
          <a:xfrm>
            <a:off x="6343789" y="4815880"/>
            <a:ext cx="5021137" cy="258465"/>
          </a:xfrm>
          <a:prstGeom prst="rect">
            <a:avLst/>
          </a:prstGeom>
          <a:noFill/>
          <a:ln/>
        </p:spPr>
        <p:txBody>
          <a:bodyPr wrap="none" lIns="0" tIns="0" rIns="0" bIns="0" rtlCol="0" anchor="t"/>
          <a:lstStyle/>
          <a:p>
            <a:pPr algn="l" indent="0" marL="0">
              <a:lnSpc>
                <a:spcPct val="104000"/>
              </a:lnSpc>
              <a:buNone/>
            </a:pPr>
            <a:r>
              <a:rPr lang="en-US" sz="1600" dirty="0">
                <a:solidFill>
                  <a:srgbClr val="E0D6DE"/>
                </a:solidFill>
                <a:latin typeface="Sora Medium" pitchFamily="34" charset="0"/>
                <a:ea typeface="Sora Medium" pitchFamily="34" charset="-122"/>
                <a:cs typeface="Sora Medium" pitchFamily="34" charset="-120"/>
              </a:rPr>
              <a:t>Statistical Result</a:t>
            </a:r>
            <a:endParaRPr lang="en-US" sz="1600" dirty="0"/>
          </a:p>
        </p:txBody>
      </p:sp>
      <p:sp>
        <p:nvSpPr>
          <p:cNvPr id="15" name="Text 13"/>
          <p:cNvSpPr/>
          <p:nvPr/>
        </p:nvSpPr>
        <p:spPr>
          <a:xfrm>
            <a:off x="6343789" y="5173563"/>
            <a:ext cx="5021137" cy="264616"/>
          </a:xfrm>
          <a:prstGeom prst="rect">
            <a:avLst/>
          </a:prstGeom>
          <a:noFill/>
          <a:ln/>
        </p:spPr>
        <p:txBody>
          <a:bodyPr wrap="none" lIns="0" tIns="0" rIns="0" bIns="0" rtlCol="0" anchor="t"/>
          <a:lstStyle/>
          <a:p>
            <a:pPr algn="l" indent="0" marL="0">
              <a:lnSpc>
                <a:spcPct val="133000"/>
              </a:lnSpc>
              <a:buNone/>
            </a:pPr>
            <a:r>
              <a:rPr lang="en-US" sz="1300" dirty="0">
                <a:solidFill>
                  <a:srgbClr val="E0D6DE"/>
                </a:solidFill>
                <a:latin typeface="Noto Sans" pitchFamily="34" charset="0"/>
                <a:ea typeface="Noto Sans" pitchFamily="34" charset="-122"/>
                <a:cs typeface="Noto Sans" pitchFamily="34" charset="-120"/>
              </a:rPr>
              <a:t>p &lt; 0.0001 — Null hypothesis rejected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520204"/>
            <a:ext cx="10868745" cy="500658"/>
          </a:xfrm>
          <a:prstGeom prst="rect">
            <a:avLst/>
          </a:prstGeom>
          <a:noFill/>
          <a:ln/>
        </p:spPr>
        <p:txBody>
          <a:bodyPr wrap="none" lIns="0" tIns="0" rIns="0" bIns="0" rtlCol="0" anchor="t"/>
          <a:lstStyle/>
          <a:p>
            <a:pPr algn="l" indent="0" marL="0">
              <a:lnSpc>
                <a:spcPct val="104000"/>
              </a:lnSpc>
              <a:buNone/>
            </a:pPr>
            <a:r>
              <a:rPr lang="en-US" sz="3150" dirty="0">
                <a:solidFill>
                  <a:srgbClr val="97B8FF"/>
                </a:solidFill>
                <a:latin typeface="Sora Medium" pitchFamily="34" charset="0"/>
                <a:ea typeface="Sora Medium" pitchFamily="34" charset="-122"/>
                <a:cs typeface="Sora Medium" pitchFamily="34" charset="-120"/>
              </a:rPr>
              <a:t>Introduction &amp; Project Objectives</a:t>
            </a:r>
            <a:endParaRPr lang="en-US" sz="3150" dirty="0"/>
          </a:p>
        </p:txBody>
      </p:sp>
      <p:sp>
        <p:nvSpPr>
          <p:cNvPr id="3" name="Text 1"/>
          <p:cNvSpPr/>
          <p:nvPr/>
        </p:nvSpPr>
        <p:spPr>
          <a:xfrm>
            <a:off x="661475" y="1331218"/>
            <a:ext cx="10868745" cy="756940"/>
          </a:xfrm>
          <a:prstGeom prst="rect">
            <a:avLst/>
          </a:prstGeom>
          <a:noFill/>
          <a:ln/>
        </p:spPr>
        <p:txBody>
          <a:bodyPr wrap="square" lIns="0" tIns="0" rIns="0" bIns="0" rtlCol="0" anchor="t">
            <a:normAutofit/>
          </a:bodyPr>
          <a:lstStyle/>
          <a:p>
            <a:pPr algn="l" indent="0" marL="0">
              <a:lnSpc>
                <a:spcPct val="131000"/>
              </a:lnSpc>
              <a:buNone/>
            </a:pPr>
            <a:r>
              <a:rPr lang="en-US" sz="1250" dirty="0">
                <a:solidFill>
                  <a:srgbClr val="E0D6DE"/>
                </a:solidFill>
                <a:latin typeface="Noto Sans" pitchFamily="34" charset="0"/>
                <a:ea typeface="Noto Sans" pitchFamily="34" charset="-122"/>
                <a:cs typeface="Noto Sans" pitchFamily="34" charset="-120"/>
              </a:rPr>
              <a:t>Morphology studies the internal structure of words and how they are formed from smaller meaningful units called morphemes. This project develops a rule-based morphological analysis system and tests whether parsing accuracy differs significantly between inflectional and derivational categories.</a:t>
            </a:r>
            <a:endParaRPr lang="en-US" sz="1250" dirty="0"/>
          </a:p>
        </p:txBody>
      </p:sp>
      <p:sp>
        <p:nvSpPr>
          <p:cNvPr id="4" name="Shape 2"/>
          <p:cNvSpPr/>
          <p:nvPr/>
        </p:nvSpPr>
        <p:spPr>
          <a:xfrm>
            <a:off x="546086" y="2262684"/>
            <a:ext cx="5469694" cy="3021211"/>
          </a:xfrm>
          <a:prstGeom prst="roundRect">
            <a:avLst>
              <a:gd name="adj" fmla="val 795"/>
            </a:avLst>
          </a:prstGeom>
          <a:solidFill>
            <a:srgbClr val="120336"/>
          </a:solidFill>
          <a:ln/>
        </p:spPr>
      </p:sp>
      <p:sp>
        <p:nvSpPr>
          <p:cNvPr id="5" name="Text 3"/>
          <p:cNvSpPr/>
          <p:nvPr/>
        </p:nvSpPr>
        <p:spPr>
          <a:xfrm>
            <a:off x="706221" y="2417862"/>
            <a:ext cx="5149424" cy="250329"/>
          </a:xfrm>
          <a:prstGeom prst="rect">
            <a:avLst/>
          </a:prstGeom>
          <a:noFill/>
          <a:ln/>
        </p:spPr>
        <p:txBody>
          <a:bodyPr wrap="none" lIns="0" tIns="0" rIns="0" bIns="0" rtlCol="0" anchor="t"/>
          <a:lstStyle/>
          <a:p>
            <a:pPr algn="l" indent="0" marL="0">
              <a:lnSpc>
                <a:spcPct val="104000"/>
              </a:lnSpc>
              <a:buNone/>
            </a:pPr>
            <a:r>
              <a:rPr lang="en-US" sz="1550" dirty="0">
                <a:solidFill>
                  <a:srgbClr val="97B8FF"/>
                </a:solidFill>
                <a:latin typeface="Sora Medium" pitchFamily="34" charset="0"/>
                <a:ea typeface="Sora Medium" pitchFamily="34" charset="-122"/>
                <a:cs typeface="Sora Medium" pitchFamily="34" charset="-120"/>
              </a:rPr>
              <a:t>Inflectional Morphology</a:t>
            </a:r>
            <a:endParaRPr lang="en-US" sz="1550" dirty="0"/>
          </a:p>
        </p:txBody>
      </p:sp>
      <p:sp>
        <p:nvSpPr>
          <p:cNvPr id="6" name="Text 4"/>
          <p:cNvSpPr/>
          <p:nvPr/>
        </p:nvSpPr>
        <p:spPr>
          <a:xfrm>
            <a:off x="706221" y="2823369"/>
            <a:ext cx="5149424" cy="1401167"/>
          </a:xfrm>
          <a:prstGeom prst="rect">
            <a:avLst/>
          </a:prstGeom>
          <a:noFill/>
          <a:ln/>
        </p:spPr>
        <p:txBody>
          <a:bodyPr wrap="square" lIns="0" tIns="0" rIns="0" bIns="0" rtlCol="0" anchor="t">
            <a:normAutofit/>
          </a:bodyPr>
          <a:lstStyle/>
          <a:p>
            <a:pPr algn="l" indent="0" marL="0">
              <a:lnSpc>
                <a:spcPct val="131000"/>
              </a:lnSpc>
              <a:spcAft>
                <a:spcPts val="1050"/>
              </a:spcAft>
              <a:buNone/>
            </a:pPr>
            <a:r>
              <a:rPr lang="en-US" sz="1250" dirty="0">
                <a:solidFill>
                  <a:srgbClr val="E0D6DE"/>
                </a:solidFill>
                <a:latin typeface="Noto Sans" pitchFamily="34" charset="0"/>
                <a:ea typeface="Noto Sans" pitchFamily="34" charset="-122"/>
                <a:cs typeface="Noto Sans" pitchFamily="34" charset="-120"/>
              </a:rPr>
              <a:t>Modifies a word to express grammatical features — tense, number, person — </a:t>
            </a:r>
            <a:pPr algn="l" indent="0" marL="0">
              <a:lnSpc>
                <a:spcPct val="131000"/>
              </a:lnSpc>
              <a:spcAft>
                <a:spcPts val="1050"/>
              </a:spcAft>
              <a:buNone/>
            </a:pPr>
            <a:r>
              <a:rPr lang="en-US" sz="1250" b="1" dirty="0">
                <a:solidFill>
                  <a:srgbClr val="E0D6DE"/>
                </a:solidFill>
                <a:latin typeface="Noto Sans Bold" pitchFamily="34" charset="0"/>
                <a:ea typeface="Noto Sans Bold" pitchFamily="34" charset="-122"/>
                <a:cs typeface="Noto Sans Bold" pitchFamily="34" charset="-120"/>
              </a:rPr>
              <a:t>without changing its part of speech</a:t>
            </a:r>
            <a:pPr algn="l" indent="0" marL="0">
              <a:lnSpc>
                <a:spcPct val="131000"/>
              </a:lnSpc>
              <a:spcAft>
                <a:spcPts val="1050"/>
              </a:spcAft>
              <a:buNone/>
            </a:pPr>
            <a:r>
              <a:rPr lang="en-US" sz="1250" dirty="0">
                <a:solidFill>
                  <a:srgbClr val="E0D6DE"/>
                </a:solidFill>
                <a:latin typeface="Noto Sans" pitchFamily="34" charset="0"/>
                <a:ea typeface="Noto Sans" pitchFamily="34" charset="-122"/>
                <a:cs typeface="Noto Sans" pitchFamily="34" charset="-120"/>
              </a:rPr>
              <a:t>. The base word retains its lexical category throughout the transformation.</a:t>
            </a:r>
            <a:endParaRPr lang="en-US" sz="1250" dirty="0"/>
          </a:p>
          <a:p>
            <a:pPr algn="l" indent="0" marL="0">
              <a:lnSpc>
                <a:spcPct val="131000"/>
              </a:lnSpc>
              <a:buNone/>
            </a:pPr>
            <a:r>
              <a:rPr lang="en-US" sz="1250" dirty="0">
                <a:solidFill>
                  <a:srgbClr val="E0D6DE"/>
                </a:solidFill>
                <a:latin typeface="Noto Sans" pitchFamily="34" charset="0"/>
                <a:ea typeface="Noto Sans" pitchFamily="34" charset="-122"/>
                <a:cs typeface="Noto Sans" pitchFamily="34" charset="-120"/>
              </a:rPr>
              <a:t>Example: </a:t>
            </a:r>
            <a:pPr algn="l" indent="0" marL="0">
              <a:lnSpc>
                <a:spcPct val="131000"/>
              </a:lnSpc>
              <a:buNone/>
            </a:pPr>
            <a:r>
              <a:rPr lang="en-US" sz="1250" b="1" dirty="0">
                <a:solidFill>
                  <a:srgbClr val="E0D6DE"/>
                </a:solidFill>
                <a:latin typeface="Noto Sans Bold" pitchFamily="34" charset="0"/>
                <a:ea typeface="Noto Sans Bold" pitchFamily="34" charset="-122"/>
                <a:cs typeface="Noto Sans Bold" pitchFamily="34" charset="-120"/>
              </a:rPr>
              <a:t>walk → walked</a:t>
            </a:r>
            <a:pPr algn="l" indent="0" marL="0">
              <a:lnSpc>
                <a:spcPct val="131000"/>
              </a:lnSpc>
              <a:buNone/>
            </a:pPr>
            <a:r>
              <a:rPr lang="en-US" sz="1250" dirty="0">
                <a:solidFill>
                  <a:srgbClr val="E0D6DE"/>
                </a:solidFill>
                <a:latin typeface="Noto Sans" pitchFamily="34" charset="0"/>
                <a:ea typeface="Noto Sans" pitchFamily="34" charset="-122"/>
                <a:cs typeface="Noto Sans" pitchFamily="34" charset="-120"/>
              </a:rPr>
              <a:t> (verb remains a verb; past tense marker added)</a:t>
            </a:r>
            <a:endParaRPr lang="en-US" sz="1250" dirty="0"/>
          </a:p>
        </p:txBody>
      </p:sp>
      <p:sp>
        <p:nvSpPr>
          <p:cNvPr id="7" name="Text 5"/>
          <p:cNvSpPr/>
          <p:nvPr/>
        </p:nvSpPr>
        <p:spPr>
          <a:xfrm>
            <a:off x="706221" y="4364137"/>
            <a:ext cx="5149424" cy="865485"/>
          </a:xfrm>
          <a:prstGeom prst="rect">
            <a:avLst/>
          </a:prstGeom>
          <a:noFill/>
          <a:ln/>
        </p:spPr>
        <p:txBody>
          <a:bodyPr wrap="square" lIns="0" tIns="64089" rIns="0" bIns="0" rtlCol="0" anchor="t">
            <a:normAutofit/>
          </a:bodyPr>
          <a:lstStyle/>
          <a:p>
            <a:pPr algn="l" marL="254000" indent="-254000">
              <a:lnSpc>
                <a:spcPct val="131000"/>
              </a:lnSpc>
              <a:buSzPct val="100000"/>
              <a:buChar char="•"/>
            </a:pPr>
            <a:r>
              <a:rPr lang="en-US" sz="1250" dirty="0">
                <a:solidFill>
                  <a:srgbClr val="E0D6DE"/>
                </a:solidFill>
                <a:latin typeface="Noto Sans" pitchFamily="34" charset="0"/>
                <a:ea typeface="Noto Sans" pitchFamily="34" charset="-122"/>
                <a:cs typeface="Noto Sans" pitchFamily="34" charset="-120"/>
              </a:rPr>
              <a:t>Regular, predictable rule application</a:t>
            </a:r>
            <a:endParaRPr lang="en-US" sz="1250" dirty="0"/>
          </a:p>
          <a:p>
            <a:pPr algn="l" marL="254000" indent="-254000">
              <a:lnSpc>
                <a:spcPct val="131000"/>
              </a:lnSpc>
              <a:buSzPct val="100000"/>
              <a:buChar char="•"/>
            </a:pPr>
            <a:r>
              <a:rPr lang="en-US" sz="1250" dirty="0">
                <a:solidFill>
                  <a:srgbClr val="E0D6DE"/>
                </a:solidFill>
                <a:latin typeface="Noto Sans" pitchFamily="34" charset="0"/>
                <a:ea typeface="Noto Sans" pitchFamily="34" charset="-122"/>
                <a:cs typeface="Noto Sans" pitchFamily="34" charset="-120"/>
              </a:rPr>
              <a:t>Low structural ambiguity</a:t>
            </a:r>
            <a:endParaRPr lang="en-US" sz="1250" dirty="0"/>
          </a:p>
          <a:p>
            <a:pPr algn="l" marL="254000" indent="-254000">
              <a:lnSpc>
                <a:spcPct val="131000"/>
              </a:lnSpc>
              <a:buSzPct val="100000"/>
              <a:buChar char="•"/>
            </a:pPr>
            <a:r>
              <a:rPr lang="en-US" sz="1250" dirty="0">
                <a:solidFill>
                  <a:srgbClr val="E0D6DE"/>
                </a:solidFill>
                <a:latin typeface="Noto Sans" pitchFamily="34" charset="0"/>
                <a:ea typeface="Noto Sans" pitchFamily="34" charset="-122"/>
                <a:cs typeface="Noto Sans" pitchFamily="34" charset="-120"/>
              </a:rPr>
              <a:t>Closed set of affixes in English</a:t>
            </a:r>
            <a:endParaRPr lang="en-US" sz="1250" dirty="0"/>
          </a:p>
        </p:txBody>
      </p:sp>
      <p:sp>
        <p:nvSpPr>
          <p:cNvPr id="8" name="Text 6"/>
          <p:cNvSpPr/>
          <p:nvPr/>
        </p:nvSpPr>
        <p:spPr>
          <a:xfrm>
            <a:off x="6297653" y="2417862"/>
            <a:ext cx="5238917" cy="250329"/>
          </a:xfrm>
          <a:prstGeom prst="rect">
            <a:avLst/>
          </a:prstGeom>
          <a:noFill/>
          <a:ln/>
        </p:spPr>
        <p:txBody>
          <a:bodyPr wrap="none" lIns="0" tIns="0" rIns="0" bIns="0" rtlCol="0" anchor="t"/>
          <a:lstStyle/>
          <a:p>
            <a:pPr algn="l" indent="0" marL="0">
              <a:lnSpc>
                <a:spcPct val="104000"/>
              </a:lnSpc>
              <a:buNone/>
            </a:pPr>
            <a:r>
              <a:rPr lang="en-US" sz="1550" dirty="0">
                <a:solidFill>
                  <a:srgbClr val="97B8FF"/>
                </a:solidFill>
                <a:latin typeface="Sora Medium" pitchFamily="34" charset="0"/>
                <a:ea typeface="Sora Medium" pitchFamily="34" charset="-122"/>
                <a:cs typeface="Sora Medium" pitchFamily="34" charset="-120"/>
              </a:rPr>
              <a:t>Derivational Morphology</a:t>
            </a:r>
            <a:endParaRPr lang="en-US" sz="1550" dirty="0"/>
          </a:p>
        </p:txBody>
      </p:sp>
      <p:sp>
        <p:nvSpPr>
          <p:cNvPr id="9" name="Text 7"/>
          <p:cNvSpPr/>
          <p:nvPr/>
        </p:nvSpPr>
        <p:spPr>
          <a:xfrm>
            <a:off x="6297653" y="2823369"/>
            <a:ext cx="5238917" cy="1148854"/>
          </a:xfrm>
          <a:prstGeom prst="rect">
            <a:avLst/>
          </a:prstGeom>
          <a:noFill/>
          <a:ln/>
        </p:spPr>
        <p:txBody>
          <a:bodyPr wrap="square" lIns="0" tIns="0" rIns="0" bIns="0" rtlCol="0" anchor="t">
            <a:normAutofit/>
          </a:bodyPr>
          <a:lstStyle/>
          <a:p>
            <a:pPr algn="l" indent="0" marL="0">
              <a:lnSpc>
                <a:spcPct val="131000"/>
              </a:lnSpc>
              <a:spcAft>
                <a:spcPts val="1050"/>
              </a:spcAft>
              <a:buNone/>
            </a:pPr>
            <a:r>
              <a:rPr lang="en-US" sz="1250" dirty="0">
                <a:solidFill>
                  <a:srgbClr val="E0D6DE"/>
                </a:solidFill>
                <a:latin typeface="Noto Sans" pitchFamily="34" charset="0"/>
                <a:ea typeface="Noto Sans" pitchFamily="34" charset="-122"/>
                <a:cs typeface="Noto Sans" pitchFamily="34" charset="-120"/>
              </a:rPr>
              <a:t>Creates new words with a </a:t>
            </a:r>
            <a:pPr algn="l" indent="0" marL="0">
              <a:lnSpc>
                <a:spcPct val="131000"/>
              </a:lnSpc>
              <a:spcAft>
                <a:spcPts val="1050"/>
              </a:spcAft>
              <a:buNone/>
            </a:pPr>
            <a:r>
              <a:rPr lang="en-US" sz="1250" b="1" dirty="0">
                <a:solidFill>
                  <a:srgbClr val="E0D6DE"/>
                </a:solidFill>
                <a:latin typeface="Noto Sans Bold" pitchFamily="34" charset="0"/>
                <a:ea typeface="Noto Sans Bold" pitchFamily="34" charset="-122"/>
                <a:cs typeface="Noto Sans Bold" pitchFamily="34" charset="-120"/>
              </a:rPr>
              <a:t>different part of speech or substantially modified meaning</a:t>
            </a:r>
            <a:pPr algn="l" indent="0" marL="0">
              <a:lnSpc>
                <a:spcPct val="131000"/>
              </a:lnSpc>
              <a:spcAft>
                <a:spcPts val="1050"/>
              </a:spcAft>
              <a:buNone/>
            </a:pPr>
            <a:r>
              <a:rPr lang="en-US" sz="1250" dirty="0">
                <a:solidFill>
                  <a:srgbClr val="E0D6DE"/>
                </a:solidFill>
                <a:latin typeface="Noto Sans" pitchFamily="34" charset="0"/>
                <a:ea typeface="Noto Sans" pitchFamily="34" charset="-122"/>
                <a:cs typeface="Noto Sans" pitchFamily="34" charset="-120"/>
              </a:rPr>
              <a:t>. The transformation often introduces semantic and syntactic complexity that challenges rule-based systems.</a:t>
            </a:r>
            <a:endParaRPr lang="en-US" sz="1250" dirty="0"/>
          </a:p>
          <a:p>
            <a:pPr algn="l" indent="0" marL="0">
              <a:lnSpc>
                <a:spcPct val="131000"/>
              </a:lnSpc>
              <a:buNone/>
            </a:pPr>
            <a:r>
              <a:rPr lang="en-US" sz="1250" dirty="0">
                <a:solidFill>
                  <a:srgbClr val="E0D6DE"/>
                </a:solidFill>
                <a:latin typeface="Noto Sans" pitchFamily="34" charset="0"/>
                <a:ea typeface="Noto Sans" pitchFamily="34" charset="-122"/>
                <a:cs typeface="Noto Sans" pitchFamily="34" charset="-120"/>
              </a:rPr>
              <a:t>Example: </a:t>
            </a:r>
            <a:pPr algn="l" indent="0" marL="0">
              <a:lnSpc>
                <a:spcPct val="131000"/>
              </a:lnSpc>
              <a:buNone/>
            </a:pPr>
            <a:r>
              <a:rPr lang="en-US" sz="1250" b="1" dirty="0">
                <a:solidFill>
                  <a:srgbClr val="E0D6DE"/>
                </a:solidFill>
                <a:latin typeface="Noto Sans Bold" pitchFamily="34" charset="0"/>
                <a:ea typeface="Noto Sans Bold" pitchFamily="34" charset="-122"/>
                <a:cs typeface="Noto Sans Bold" pitchFamily="34" charset="-120"/>
              </a:rPr>
              <a:t>happy → happiness</a:t>
            </a:r>
            <a:pPr algn="l" indent="0" marL="0">
              <a:lnSpc>
                <a:spcPct val="131000"/>
              </a:lnSpc>
              <a:buNone/>
            </a:pPr>
            <a:r>
              <a:rPr lang="en-US" sz="1250" dirty="0">
                <a:solidFill>
                  <a:srgbClr val="E0D6DE"/>
                </a:solidFill>
                <a:latin typeface="Noto Sans" pitchFamily="34" charset="0"/>
                <a:ea typeface="Noto Sans" pitchFamily="34" charset="-122"/>
                <a:cs typeface="Noto Sans" pitchFamily="34" charset="-120"/>
              </a:rPr>
              <a:t> (adjective becomes noun)</a:t>
            </a:r>
            <a:endParaRPr lang="en-US" sz="1250" dirty="0"/>
          </a:p>
        </p:txBody>
      </p:sp>
      <p:sp>
        <p:nvSpPr>
          <p:cNvPr id="10" name="Text 8"/>
          <p:cNvSpPr/>
          <p:nvPr/>
        </p:nvSpPr>
        <p:spPr>
          <a:xfrm>
            <a:off x="6297653" y="4111823"/>
            <a:ext cx="5238917" cy="865485"/>
          </a:xfrm>
          <a:prstGeom prst="rect">
            <a:avLst/>
          </a:prstGeom>
          <a:noFill/>
          <a:ln/>
        </p:spPr>
        <p:txBody>
          <a:bodyPr wrap="square" lIns="0" tIns="64089" rIns="0" bIns="0" rtlCol="0" anchor="t">
            <a:normAutofit/>
          </a:bodyPr>
          <a:lstStyle/>
          <a:p>
            <a:pPr algn="l" marL="254000" indent="-254000">
              <a:lnSpc>
                <a:spcPct val="131000"/>
              </a:lnSpc>
              <a:buSzPct val="100000"/>
              <a:buChar char="•"/>
            </a:pPr>
            <a:r>
              <a:rPr lang="en-US" sz="1250" dirty="0">
                <a:solidFill>
                  <a:srgbClr val="E0D6DE"/>
                </a:solidFill>
                <a:latin typeface="Noto Sans" pitchFamily="34" charset="0"/>
                <a:ea typeface="Noto Sans" pitchFamily="34" charset="-122"/>
                <a:cs typeface="Noto Sans" pitchFamily="34" charset="-120"/>
              </a:rPr>
              <a:t>Open-ended, productive processes</a:t>
            </a:r>
            <a:endParaRPr lang="en-US" sz="1250" dirty="0"/>
          </a:p>
          <a:p>
            <a:pPr algn="l" marL="254000" indent="-254000">
              <a:lnSpc>
                <a:spcPct val="131000"/>
              </a:lnSpc>
              <a:buSzPct val="100000"/>
              <a:buChar char="•"/>
            </a:pPr>
            <a:r>
              <a:rPr lang="en-US" sz="1250" dirty="0">
                <a:solidFill>
                  <a:srgbClr val="E0D6DE"/>
                </a:solidFill>
                <a:latin typeface="Noto Sans" pitchFamily="34" charset="0"/>
                <a:ea typeface="Noto Sans" pitchFamily="34" charset="-122"/>
                <a:cs typeface="Noto Sans" pitchFamily="34" charset="-120"/>
              </a:rPr>
              <a:t>High rate of part-of-speech change</a:t>
            </a:r>
            <a:endParaRPr lang="en-US" sz="1250" dirty="0"/>
          </a:p>
          <a:p>
            <a:pPr algn="l" marL="254000" indent="-254000">
              <a:lnSpc>
                <a:spcPct val="131000"/>
              </a:lnSpc>
              <a:buSzPct val="100000"/>
              <a:buChar char="•"/>
            </a:pPr>
            <a:r>
              <a:rPr lang="en-US" sz="1250" dirty="0">
                <a:solidFill>
                  <a:srgbClr val="E0D6DE"/>
                </a:solidFill>
                <a:latin typeface="Noto Sans" pitchFamily="34" charset="0"/>
                <a:ea typeface="Noto Sans" pitchFamily="34" charset="-122"/>
                <a:cs typeface="Noto Sans" pitchFamily="34" charset="-120"/>
              </a:rPr>
              <a:t>Irregular and context-sensitive patterns</a:t>
            </a:r>
            <a:endParaRPr lang="en-US" sz="1250" dirty="0"/>
          </a:p>
        </p:txBody>
      </p:sp>
      <p:sp>
        <p:nvSpPr>
          <p:cNvPr id="11" name="Shape 9"/>
          <p:cNvSpPr/>
          <p:nvPr/>
        </p:nvSpPr>
        <p:spPr>
          <a:xfrm>
            <a:off x="661475" y="5458420"/>
            <a:ext cx="10868745" cy="879376"/>
          </a:xfrm>
          <a:prstGeom prst="roundRect">
            <a:avLst>
              <a:gd name="adj" fmla="val 2733"/>
            </a:avLst>
          </a:prstGeom>
          <a:solidFill>
            <a:srgbClr val="002880"/>
          </a:solidFill>
          <a:ln/>
        </p:spPr>
      </p:sp>
      <p:pic>
        <p:nvPicPr>
          <p:cNvPr id="12" name="Image 0" descr="preencoded.png">    </p:cNvPr>
          <p:cNvPicPr>
            <a:picLocks noChangeAspect="1"/>
          </p:cNvPicPr>
          <p:nvPr/>
        </p:nvPicPr>
        <p:blipFill>
          <a:blip r:embed="rId1"/>
          <a:stretch>
            <a:fillRect/>
          </a:stretch>
        </p:blipFill>
        <p:spPr>
          <a:xfrm>
            <a:off x="821610" y="5678488"/>
            <a:ext cx="200218" cy="160139"/>
          </a:xfrm>
          <a:prstGeom prst="rect">
            <a:avLst/>
          </a:prstGeom>
        </p:spPr>
      </p:pic>
      <p:sp>
        <p:nvSpPr>
          <p:cNvPr id="13" name="Text 10"/>
          <p:cNvSpPr/>
          <p:nvPr/>
        </p:nvSpPr>
        <p:spPr>
          <a:xfrm>
            <a:off x="1181963" y="5653584"/>
            <a:ext cx="10188122" cy="504627"/>
          </a:xfrm>
          <a:prstGeom prst="rect">
            <a:avLst/>
          </a:prstGeom>
          <a:noFill/>
          <a:ln/>
        </p:spPr>
        <p:txBody>
          <a:bodyPr wrap="square" lIns="0" tIns="0" rIns="0" bIns="0" rtlCol="0" anchor="t">
            <a:normAutofit/>
          </a:bodyPr>
          <a:lstStyle/>
          <a:p>
            <a:pPr algn="l" indent="0" marL="0">
              <a:lnSpc>
                <a:spcPct val="131000"/>
              </a:lnSpc>
              <a:buNone/>
            </a:pPr>
            <a:r>
              <a:rPr lang="en-US" sz="1250" b="1" dirty="0">
                <a:solidFill>
                  <a:srgbClr val="FFFFFF"/>
                </a:solidFill>
                <a:latin typeface="Noto Sans Bold" pitchFamily="34" charset="0"/>
                <a:ea typeface="Noto Sans Bold" pitchFamily="34" charset="-122"/>
                <a:cs typeface="Noto Sans Bold" pitchFamily="34" charset="-120"/>
              </a:rPr>
              <a:t>Project Goal:</a:t>
            </a:r>
            <a:pPr algn="l" indent="0" marL="0">
              <a:lnSpc>
                <a:spcPct val="131000"/>
              </a:lnSpc>
              <a:buNone/>
            </a:pPr>
            <a:r>
              <a:rPr lang="en-US" sz="1250" dirty="0">
                <a:solidFill>
                  <a:srgbClr val="FFFFFF"/>
                </a:solidFill>
                <a:latin typeface="Noto Sans" pitchFamily="34" charset="0"/>
                <a:ea typeface="Noto Sans" pitchFamily="34" charset="-122"/>
                <a:cs typeface="Noto Sans" pitchFamily="34" charset="-120"/>
              </a:rPr>
              <a:t> Develop a rule-based morphological analysis system and test whether parsing accuracy differs significantly between inflectional and derivational word forms using statistical hypothesis testing.</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471388"/>
            <a:ext cx="10868745" cy="323056"/>
          </a:xfrm>
          <a:prstGeom prst="rect">
            <a:avLst/>
          </a:prstGeom>
          <a:noFill/>
          <a:ln/>
        </p:spPr>
        <p:txBody>
          <a:bodyPr wrap="none" lIns="0" tIns="0" rIns="0" bIns="0" rtlCol="0" anchor="t"/>
          <a:lstStyle/>
          <a:p>
            <a:pPr algn="l" indent="0" marL="0">
              <a:lnSpc>
                <a:spcPct val="104000"/>
              </a:lnSpc>
              <a:buNone/>
            </a:pPr>
            <a:r>
              <a:rPr lang="en-US" sz="2000" dirty="0">
                <a:solidFill>
                  <a:srgbClr val="97B8FF"/>
                </a:solidFill>
                <a:latin typeface="Sora Medium" pitchFamily="34" charset="0"/>
                <a:ea typeface="Sora Medium" pitchFamily="34" charset="-122"/>
                <a:cs typeface="Sora Medium" pitchFamily="34" charset="-120"/>
              </a:rPr>
              <a:t>Dataset Overview</a:t>
            </a:r>
            <a:endParaRPr lang="en-US" sz="2000" dirty="0"/>
          </a:p>
        </p:txBody>
      </p:sp>
      <p:pic>
        <p:nvPicPr>
          <p:cNvPr id="3" name="Image 0" descr="preencoded.png">    </p:cNvPr>
          <p:cNvPicPr>
            <a:picLocks noChangeAspect="1"/>
          </p:cNvPicPr>
          <p:nvPr/>
        </p:nvPicPr>
        <p:blipFill>
          <a:blip r:embed="rId1"/>
          <a:stretch>
            <a:fillRect/>
          </a:stretch>
        </p:blipFill>
        <p:spPr>
          <a:xfrm>
            <a:off x="661475" y="963910"/>
            <a:ext cx="3479713" cy="2419350"/>
          </a:xfrm>
          <a:prstGeom prst="rect">
            <a:avLst/>
          </a:prstGeom>
        </p:spPr>
      </p:pic>
      <p:sp>
        <p:nvSpPr>
          <p:cNvPr id="4" name="Text 1"/>
          <p:cNvSpPr/>
          <p:nvPr/>
        </p:nvSpPr>
        <p:spPr>
          <a:xfrm>
            <a:off x="6784309" y="955873"/>
            <a:ext cx="4752162" cy="161429"/>
          </a:xfrm>
          <a:prstGeom prst="rect">
            <a:avLst/>
          </a:prstGeom>
          <a:noFill/>
          <a:ln/>
        </p:spPr>
        <p:txBody>
          <a:bodyPr wrap="none" lIns="0" tIns="0" rIns="0" bIns="0" rtlCol="0" anchor="t"/>
          <a:lstStyle/>
          <a:p>
            <a:pPr algn="l" indent="0" marL="0">
              <a:lnSpc>
                <a:spcPct val="104000"/>
              </a:lnSpc>
              <a:buNone/>
            </a:pPr>
            <a:r>
              <a:rPr lang="en-US" sz="1000" dirty="0">
                <a:solidFill>
                  <a:srgbClr val="97B8FF"/>
                </a:solidFill>
                <a:latin typeface="Sora Medium" pitchFamily="34" charset="0"/>
                <a:ea typeface="Sora Medium" pitchFamily="34" charset="-122"/>
                <a:cs typeface="Sora Medium" pitchFamily="34" charset="-120"/>
              </a:rPr>
              <a:t>Dataset Composition</a:t>
            </a:r>
            <a:endParaRPr lang="en-US" sz="1000" dirty="0"/>
          </a:p>
        </p:txBody>
      </p:sp>
      <p:sp>
        <p:nvSpPr>
          <p:cNvPr id="5" name="Text 2"/>
          <p:cNvSpPr/>
          <p:nvPr/>
        </p:nvSpPr>
        <p:spPr>
          <a:xfrm>
            <a:off x="6784309" y="1241524"/>
            <a:ext cx="4752162" cy="341114"/>
          </a:xfrm>
          <a:prstGeom prst="rect">
            <a:avLst/>
          </a:prstGeom>
          <a:noFill/>
          <a:ln/>
        </p:spPr>
        <p:txBody>
          <a:bodyPr wrap="none" lIns="0" tIns="0" rIns="0" bIns="0" rtlCol="0" anchor="t"/>
          <a:lstStyle/>
          <a:p>
            <a:pPr algn="ctr" indent="0" marL="0">
              <a:lnSpc>
                <a:spcPct val="83000"/>
              </a:lnSpc>
              <a:buNone/>
            </a:pPr>
            <a:r>
              <a:rPr lang="en-US" sz="2650" dirty="0">
                <a:solidFill>
                  <a:srgbClr val="E0D6DE"/>
                </a:solidFill>
                <a:latin typeface="Sora Medium" pitchFamily="34" charset="0"/>
                <a:ea typeface="Sora Medium" pitchFamily="34" charset="-122"/>
                <a:cs typeface="Sora Medium" pitchFamily="34" charset="-120"/>
              </a:rPr>
              <a:t>1,000</a:t>
            </a:r>
            <a:endParaRPr lang="en-US" sz="2650" dirty="0"/>
          </a:p>
        </p:txBody>
      </p:sp>
      <p:sp>
        <p:nvSpPr>
          <p:cNvPr id="6" name="Text 3"/>
          <p:cNvSpPr/>
          <p:nvPr/>
        </p:nvSpPr>
        <p:spPr>
          <a:xfrm>
            <a:off x="6784309" y="1682651"/>
            <a:ext cx="4752162" cy="161429"/>
          </a:xfrm>
          <a:prstGeom prst="rect">
            <a:avLst/>
          </a:prstGeom>
          <a:noFill/>
          <a:ln/>
        </p:spPr>
        <p:txBody>
          <a:bodyPr wrap="none" lIns="0" tIns="0" rIns="0" bIns="0" rtlCol="0" anchor="t"/>
          <a:lstStyle/>
          <a:p>
            <a:pPr algn="ctr" indent="0" marL="0">
              <a:lnSpc>
                <a:spcPct val="104000"/>
              </a:lnSpc>
              <a:buNone/>
            </a:pPr>
            <a:r>
              <a:rPr lang="en-US" sz="1000" dirty="0">
                <a:solidFill>
                  <a:srgbClr val="E0D6DE"/>
                </a:solidFill>
                <a:latin typeface="Sora Medium" pitchFamily="34" charset="0"/>
                <a:ea typeface="Sora Medium" pitchFamily="34" charset="-122"/>
                <a:cs typeface="Sora Medium" pitchFamily="34" charset="-120"/>
              </a:rPr>
              <a:t>Total Records</a:t>
            </a:r>
            <a:endParaRPr lang="en-US" sz="1000" dirty="0"/>
          </a:p>
        </p:txBody>
      </p:sp>
      <p:sp>
        <p:nvSpPr>
          <p:cNvPr id="7" name="Text 4"/>
          <p:cNvSpPr/>
          <p:nvPr/>
        </p:nvSpPr>
        <p:spPr>
          <a:xfrm>
            <a:off x="6784309" y="1908671"/>
            <a:ext cx="4752162" cy="134342"/>
          </a:xfrm>
          <a:prstGeom prst="rect">
            <a:avLst/>
          </a:prstGeom>
          <a:noFill/>
          <a:ln/>
        </p:spPr>
        <p:txBody>
          <a:bodyPr wrap="none" lIns="0" tIns="0" rIns="0" bIns="0" rtlCol="0" anchor="t"/>
          <a:lstStyle/>
          <a:p>
            <a:pPr algn="ctr" indent="0" marL="0">
              <a:lnSpc>
                <a:spcPct val="108000"/>
              </a:lnSpc>
              <a:buNone/>
            </a:pPr>
            <a:r>
              <a:rPr lang="en-US" sz="800" dirty="0">
                <a:solidFill>
                  <a:srgbClr val="E0D6DE"/>
                </a:solidFill>
                <a:latin typeface="Noto Sans" pitchFamily="34" charset="0"/>
                <a:ea typeface="Noto Sans" pitchFamily="34" charset="-122"/>
                <a:cs typeface="Noto Sans" pitchFamily="34" charset="-120"/>
              </a:rPr>
              <a:t>English word forms analyzed</a:t>
            </a:r>
            <a:endParaRPr lang="en-US" sz="800" dirty="0"/>
          </a:p>
        </p:txBody>
      </p:sp>
      <p:sp>
        <p:nvSpPr>
          <p:cNvPr id="8" name="Text 5"/>
          <p:cNvSpPr/>
          <p:nvPr/>
        </p:nvSpPr>
        <p:spPr>
          <a:xfrm>
            <a:off x="6784309" y="2223790"/>
            <a:ext cx="4752162" cy="341114"/>
          </a:xfrm>
          <a:prstGeom prst="rect">
            <a:avLst/>
          </a:prstGeom>
          <a:noFill/>
          <a:ln/>
        </p:spPr>
        <p:txBody>
          <a:bodyPr wrap="none" lIns="0" tIns="0" rIns="0" bIns="0" rtlCol="0" anchor="t"/>
          <a:lstStyle/>
          <a:p>
            <a:pPr algn="ctr" indent="0" marL="0">
              <a:lnSpc>
                <a:spcPct val="83000"/>
              </a:lnSpc>
              <a:buNone/>
            </a:pPr>
            <a:r>
              <a:rPr lang="en-US" sz="2650" dirty="0">
                <a:solidFill>
                  <a:srgbClr val="E0D6DE"/>
                </a:solidFill>
                <a:latin typeface="Sora Medium" pitchFamily="34" charset="0"/>
                <a:ea typeface="Sora Medium" pitchFamily="34" charset="-122"/>
                <a:cs typeface="Sora Medium" pitchFamily="34" charset="-120"/>
              </a:rPr>
              <a:t>500</a:t>
            </a:r>
            <a:endParaRPr lang="en-US" sz="2650" dirty="0"/>
          </a:p>
        </p:txBody>
      </p:sp>
      <p:sp>
        <p:nvSpPr>
          <p:cNvPr id="9" name="Text 6"/>
          <p:cNvSpPr/>
          <p:nvPr/>
        </p:nvSpPr>
        <p:spPr>
          <a:xfrm>
            <a:off x="6784309" y="2664916"/>
            <a:ext cx="4752162" cy="161429"/>
          </a:xfrm>
          <a:prstGeom prst="rect">
            <a:avLst/>
          </a:prstGeom>
          <a:noFill/>
          <a:ln/>
        </p:spPr>
        <p:txBody>
          <a:bodyPr wrap="none" lIns="0" tIns="0" rIns="0" bIns="0" rtlCol="0" anchor="t"/>
          <a:lstStyle/>
          <a:p>
            <a:pPr algn="ctr" indent="0" marL="0">
              <a:lnSpc>
                <a:spcPct val="104000"/>
              </a:lnSpc>
              <a:buNone/>
            </a:pPr>
            <a:r>
              <a:rPr lang="en-US" sz="1000" dirty="0">
                <a:solidFill>
                  <a:srgbClr val="E0D6DE"/>
                </a:solidFill>
                <a:latin typeface="Sora Medium" pitchFamily="34" charset="0"/>
                <a:ea typeface="Sora Medium" pitchFamily="34" charset="-122"/>
                <a:cs typeface="Sora Medium" pitchFamily="34" charset="-120"/>
              </a:rPr>
              <a:t>Inflectional</a:t>
            </a:r>
            <a:endParaRPr lang="en-US" sz="1000" dirty="0"/>
          </a:p>
        </p:txBody>
      </p:sp>
      <p:sp>
        <p:nvSpPr>
          <p:cNvPr id="10" name="Text 7"/>
          <p:cNvSpPr/>
          <p:nvPr/>
        </p:nvSpPr>
        <p:spPr>
          <a:xfrm>
            <a:off x="6784309" y="2890937"/>
            <a:ext cx="4752162" cy="134342"/>
          </a:xfrm>
          <a:prstGeom prst="rect">
            <a:avLst/>
          </a:prstGeom>
          <a:noFill/>
          <a:ln/>
        </p:spPr>
        <p:txBody>
          <a:bodyPr wrap="none" lIns="0" tIns="0" rIns="0" bIns="0" rtlCol="0" anchor="t"/>
          <a:lstStyle/>
          <a:p>
            <a:pPr algn="ctr" indent="0" marL="0">
              <a:lnSpc>
                <a:spcPct val="108000"/>
              </a:lnSpc>
              <a:buNone/>
            </a:pPr>
            <a:r>
              <a:rPr lang="en-US" sz="800" dirty="0">
                <a:solidFill>
                  <a:srgbClr val="E0D6DE"/>
                </a:solidFill>
                <a:latin typeface="Noto Sans" pitchFamily="34" charset="0"/>
                <a:ea typeface="Noto Sans" pitchFamily="34" charset="-122"/>
                <a:cs typeface="Noto Sans" pitchFamily="34" charset="-120"/>
              </a:rPr>
              <a:t>Word forms in category one</a:t>
            </a:r>
            <a:endParaRPr lang="en-US" sz="800" dirty="0"/>
          </a:p>
        </p:txBody>
      </p:sp>
      <p:sp>
        <p:nvSpPr>
          <p:cNvPr id="11" name="Text 8"/>
          <p:cNvSpPr/>
          <p:nvPr/>
        </p:nvSpPr>
        <p:spPr>
          <a:xfrm>
            <a:off x="6784309" y="3206055"/>
            <a:ext cx="4752162" cy="341114"/>
          </a:xfrm>
          <a:prstGeom prst="rect">
            <a:avLst/>
          </a:prstGeom>
          <a:noFill/>
          <a:ln/>
        </p:spPr>
        <p:txBody>
          <a:bodyPr wrap="none" lIns="0" tIns="0" rIns="0" bIns="0" rtlCol="0" anchor="t"/>
          <a:lstStyle/>
          <a:p>
            <a:pPr algn="ctr" indent="0" marL="0">
              <a:lnSpc>
                <a:spcPct val="83000"/>
              </a:lnSpc>
              <a:buNone/>
            </a:pPr>
            <a:r>
              <a:rPr lang="en-US" sz="2650" dirty="0">
                <a:solidFill>
                  <a:srgbClr val="E0D6DE"/>
                </a:solidFill>
                <a:latin typeface="Sora Medium" pitchFamily="34" charset="0"/>
                <a:ea typeface="Sora Medium" pitchFamily="34" charset="-122"/>
                <a:cs typeface="Sora Medium" pitchFamily="34" charset="-120"/>
              </a:rPr>
              <a:t>500</a:t>
            </a:r>
            <a:endParaRPr lang="en-US" sz="2650" dirty="0"/>
          </a:p>
        </p:txBody>
      </p:sp>
      <p:sp>
        <p:nvSpPr>
          <p:cNvPr id="12" name="Text 9"/>
          <p:cNvSpPr/>
          <p:nvPr/>
        </p:nvSpPr>
        <p:spPr>
          <a:xfrm>
            <a:off x="6784309" y="3647182"/>
            <a:ext cx="4752162" cy="161429"/>
          </a:xfrm>
          <a:prstGeom prst="rect">
            <a:avLst/>
          </a:prstGeom>
          <a:noFill/>
          <a:ln/>
        </p:spPr>
        <p:txBody>
          <a:bodyPr wrap="none" lIns="0" tIns="0" rIns="0" bIns="0" rtlCol="0" anchor="t"/>
          <a:lstStyle/>
          <a:p>
            <a:pPr algn="ctr" indent="0" marL="0">
              <a:lnSpc>
                <a:spcPct val="104000"/>
              </a:lnSpc>
              <a:buNone/>
            </a:pPr>
            <a:r>
              <a:rPr lang="en-US" sz="1000" dirty="0">
                <a:solidFill>
                  <a:srgbClr val="E0D6DE"/>
                </a:solidFill>
                <a:latin typeface="Sora Medium" pitchFamily="34" charset="0"/>
                <a:ea typeface="Sora Medium" pitchFamily="34" charset="-122"/>
                <a:cs typeface="Sora Medium" pitchFamily="34" charset="-120"/>
              </a:rPr>
              <a:t>Derivational</a:t>
            </a:r>
            <a:endParaRPr lang="en-US" sz="1000" dirty="0"/>
          </a:p>
        </p:txBody>
      </p:sp>
      <p:sp>
        <p:nvSpPr>
          <p:cNvPr id="13" name="Text 10"/>
          <p:cNvSpPr/>
          <p:nvPr/>
        </p:nvSpPr>
        <p:spPr>
          <a:xfrm>
            <a:off x="6784309" y="3873202"/>
            <a:ext cx="4752162" cy="134342"/>
          </a:xfrm>
          <a:prstGeom prst="rect">
            <a:avLst/>
          </a:prstGeom>
          <a:noFill/>
          <a:ln/>
        </p:spPr>
        <p:txBody>
          <a:bodyPr wrap="none" lIns="0" tIns="0" rIns="0" bIns="0" rtlCol="0" anchor="t"/>
          <a:lstStyle/>
          <a:p>
            <a:pPr algn="ctr" indent="0" marL="0">
              <a:lnSpc>
                <a:spcPct val="108000"/>
              </a:lnSpc>
              <a:buNone/>
            </a:pPr>
            <a:r>
              <a:rPr lang="en-US" sz="800" dirty="0">
                <a:solidFill>
                  <a:srgbClr val="E0D6DE"/>
                </a:solidFill>
                <a:latin typeface="Noto Sans" pitchFamily="34" charset="0"/>
                <a:ea typeface="Noto Sans" pitchFamily="34" charset="-122"/>
                <a:cs typeface="Noto Sans" pitchFamily="34" charset="-120"/>
              </a:rPr>
              <a:t>Word forms in category two</a:t>
            </a:r>
            <a:endParaRPr lang="en-US" sz="800" dirty="0"/>
          </a:p>
        </p:txBody>
      </p:sp>
      <p:sp>
        <p:nvSpPr>
          <p:cNvPr id="14" name="Text 11"/>
          <p:cNvSpPr/>
          <p:nvPr/>
        </p:nvSpPr>
        <p:spPr>
          <a:xfrm>
            <a:off x="6784309" y="4188321"/>
            <a:ext cx="4752162" cy="341114"/>
          </a:xfrm>
          <a:prstGeom prst="rect">
            <a:avLst/>
          </a:prstGeom>
          <a:noFill/>
          <a:ln/>
        </p:spPr>
        <p:txBody>
          <a:bodyPr wrap="none" lIns="0" tIns="0" rIns="0" bIns="0" rtlCol="0" anchor="t"/>
          <a:lstStyle/>
          <a:p>
            <a:pPr algn="ctr" indent="0" marL="0">
              <a:lnSpc>
                <a:spcPct val="83000"/>
              </a:lnSpc>
              <a:buNone/>
            </a:pPr>
            <a:r>
              <a:rPr lang="en-US" sz="2650" dirty="0">
                <a:solidFill>
                  <a:srgbClr val="E0D6DE"/>
                </a:solidFill>
                <a:latin typeface="Sora Medium" pitchFamily="34" charset="0"/>
                <a:ea typeface="Sora Medium" pitchFamily="34" charset="-122"/>
                <a:cs typeface="Sora Medium" pitchFamily="34" charset="-120"/>
              </a:rPr>
              <a:t>12</a:t>
            </a:r>
            <a:endParaRPr lang="en-US" sz="2650" dirty="0"/>
          </a:p>
        </p:txBody>
      </p:sp>
      <p:sp>
        <p:nvSpPr>
          <p:cNvPr id="15" name="Text 12"/>
          <p:cNvSpPr/>
          <p:nvPr/>
        </p:nvSpPr>
        <p:spPr>
          <a:xfrm>
            <a:off x="6784309" y="4629448"/>
            <a:ext cx="4752162" cy="161429"/>
          </a:xfrm>
          <a:prstGeom prst="rect">
            <a:avLst/>
          </a:prstGeom>
          <a:noFill/>
          <a:ln/>
        </p:spPr>
        <p:txBody>
          <a:bodyPr wrap="none" lIns="0" tIns="0" rIns="0" bIns="0" rtlCol="0" anchor="t"/>
          <a:lstStyle/>
          <a:p>
            <a:pPr algn="ctr" indent="0" marL="0">
              <a:lnSpc>
                <a:spcPct val="104000"/>
              </a:lnSpc>
              <a:buNone/>
            </a:pPr>
            <a:r>
              <a:rPr lang="en-US" sz="1000" dirty="0">
                <a:solidFill>
                  <a:srgbClr val="E0D6DE"/>
                </a:solidFill>
                <a:latin typeface="Sora Medium" pitchFamily="34" charset="0"/>
                <a:ea typeface="Sora Medium" pitchFamily="34" charset="-122"/>
                <a:cs typeface="Sora Medium" pitchFamily="34" charset="-120"/>
              </a:rPr>
              <a:t>Features</a:t>
            </a:r>
            <a:endParaRPr lang="en-US" sz="1000" dirty="0"/>
          </a:p>
        </p:txBody>
      </p:sp>
      <p:sp>
        <p:nvSpPr>
          <p:cNvPr id="16" name="Text 13"/>
          <p:cNvSpPr/>
          <p:nvPr/>
        </p:nvSpPr>
        <p:spPr>
          <a:xfrm>
            <a:off x="6784309" y="4855468"/>
            <a:ext cx="4752162" cy="134342"/>
          </a:xfrm>
          <a:prstGeom prst="rect">
            <a:avLst/>
          </a:prstGeom>
          <a:noFill/>
          <a:ln/>
        </p:spPr>
        <p:txBody>
          <a:bodyPr wrap="none" lIns="0" tIns="0" rIns="0" bIns="0" rtlCol="0" anchor="t"/>
          <a:lstStyle/>
          <a:p>
            <a:pPr algn="ctr" indent="0" marL="0">
              <a:lnSpc>
                <a:spcPct val="108000"/>
              </a:lnSpc>
              <a:buNone/>
            </a:pPr>
            <a:r>
              <a:rPr lang="en-US" sz="800" dirty="0">
                <a:solidFill>
                  <a:srgbClr val="E0D6DE"/>
                </a:solidFill>
                <a:latin typeface="Noto Sans" pitchFamily="34" charset="0"/>
                <a:ea typeface="Noto Sans" pitchFamily="34" charset="-122"/>
                <a:cs typeface="Noto Sans" pitchFamily="34" charset="-120"/>
              </a:rPr>
              <a:t>Variables per record</a:t>
            </a:r>
            <a:endParaRPr lang="en-US" sz="800" dirty="0"/>
          </a:p>
        </p:txBody>
      </p:sp>
      <p:sp>
        <p:nvSpPr>
          <p:cNvPr id="17" name="Text 14"/>
          <p:cNvSpPr/>
          <p:nvPr/>
        </p:nvSpPr>
        <p:spPr>
          <a:xfrm>
            <a:off x="6784309" y="5062438"/>
            <a:ext cx="4752162" cy="161429"/>
          </a:xfrm>
          <a:prstGeom prst="rect">
            <a:avLst/>
          </a:prstGeom>
          <a:noFill/>
          <a:ln/>
        </p:spPr>
        <p:txBody>
          <a:bodyPr wrap="none" lIns="0" tIns="0" rIns="0" bIns="0" rtlCol="0" anchor="t"/>
          <a:lstStyle/>
          <a:p>
            <a:pPr algn="l" indent="0" marL="0">
              <a:lnSpc>
                <a:spcPct val="104000"/>
              </a:lnSpc>
              <a:buNone/>
            </a:pPr>
            <a:r>
              <a:rPr lang="en-US" sz="1000" dirty="0">
                <a:solidFill>
                  <a:srgbClr val="97B8FF"/>
                </a:solidFill>
                <a:latin typeface="Sora Medium" pitchFamily="34" charset="0"/>
                <a:ea typeface="Sora Medium" pitchFamily="34" charset="-122"/>
                <a:cs typeface="Sora Medium" pitchFamily="34" charset="-120"/>
              </a:rPr>
              <a:t>Variables Captured</a:t>
            </a:r>
            <a:endParaRPr lang="en-US" sz="1000" dirty="0"/>
          </a:p>
        </p:txBody>
      </p:sp>
      <p:sp>
        <p:nvSpPr>
          <p:cNvPr id="18" name="Text 15"/>
          <p:cNvSpPr/>
          <p:nvPr/>
        </p:nvSpPr>
        <p:spPr>
          <a:xfrm>
            <a:off x="6784309" y="5288459"/>
            <a:ext cx="4752162" cy="1075531"/>
          </a:xfrm>
          <a:prstGeom prst="rect">
            <a:avLst/>
          </a:prstGeom>
          <a:noFill/>
          <a:ln/>
        </p:spPr>
        <p:txBody>
          <a:bodyPr wrap="square" lIns="0" tIns="41348" rIns="0" bIns="0" rtlCol="0" anchor="t">
            <a:normAutofit/>
          </a:bodyPr>
          <a:lstStyle/>
          <a:p>
            <a:pPr algn="l" marL="162560" indent="-162560">
              <a:lnSpc>
                <a:spcPct val="108000"/>
              </a:lnSpc>
              <a:buSzPct val="100000"/>
              <a:buChar char="•"/>
            </a:pPr>
            <a:r>
              <a:rPr lang="en-US" sz="800" dirty="0">
                <a:solidFill>
                  <a:srgbClr val="E0D6DE"/>
                </a:solidFill>
                <a:latin typeface="Noto Sans" pitchFamily="34" charset="0"/>
                <a:ea typeface="Noto Sans" pitchFamily="34" charset="-122"/>
                <a:cs typeface="Noto Sans" pitchFamily="34" charset="-120"/>
              </a:rPr>
              <a:t>Word form and base word</a:t>
            </a:r>
            <a:endParaRPr lang="en-US" sz="800" dirty="0"/>
          </a:p>
          <a:p>
            <a:pPr algn="l" marL="162560" indent="-162560">
              <a:lnSpc>
                <a:spcPct val="108000"/>
              </a:lnSpc>
              <a:buSzPct val="100000"/>
              <a:buChar char="•"/>
            </a:pPr>
            <a:r>
              <a:rPr lang="en-US" sz="800" dirty="0">
                <a:solidFill>
                  <a:srgbClr val="E0D6DE"/>
                </a:solidFill>
                <a:latin typeface="Noto Sans" pitchFamily="34" charset="0"/>
                <a:ea typeface="Noto Sans" pitchFamily="34" charset="-122"/>
                <a:cs typeface="Noto Sans" pitchFamily="34" charset="-120"/>
              </a:rPr>
              <a:t>Affix type and position</a:t>
            </a:r>
            <a:endParaRPr lang="en-US" sz="800" dirty="0"/>
          </a:p>
          <a:p>
            <a:pPr algn="l" marL="162560" indent="-162560">
              <a:lnSpc>
                <a:spcPct val="108000"/>
              </a:lnSpc>
              <a:buSzPct val="100000"/>
              <a:buChar char="•"/>
            </a:pPr>
            <a:r>
              <a:rPr lang="en-US" sz="800" dirty="0">
                <a:solidFill>
                  <a:srgbClr val="E0D6DE"/>
                </a:solidFill>
                <a:latin typeface="Noto Sans" pitchFamily="34" charset="0"/>
                <a:ea typeface="Noto Sans" pitchFamily="34" charset="-122"/>
                <a:cs typeface="Noto Sans" pitchFamily="34" charset="-120"/>
              </a:rPr>
              <a:t>Part-of-speech tag</a:t>
            </a:r>
            <a:endParaRPr lang="en-US" sz="800" dirty="0"/>
          </a:p>
          <a:p>
            <a:pPr algn="l" marL="162560" indent="-162560">
              <a:lnSpc>
                <a:spcPct val="108000"/>
              </a:lnSpc>
              <a:buSzPct val="100000"/>
              <a:buChar char="•"/>
            </a:pPr>
            <a:r>
              <a:rPr lang="en-US" sz="800" dirty="0">
                <a:solidFill>
                  <a:srgbClr val="E0D6DE"/>
                </a:solidFill>
                <a:latin typeface="Noto Sans" pitchFamily="34" charset="0"/>
                <a:ea typeface="Noto Sans" pitchFamily="34" charset="-122"/>
                <a:cs typeface="Noto Sans" pitchFamily="34" charset="-120"/>
              </a:rPr>
              <a:t>Formation process category</a:t>
            </a:r>
            <a:endParaRPr lang="en-US" sz="800" dirty="0"/>
          </a:p>
          <a:p>
            <a:pPr algn="l" marL="162560" indent="-162560">
              <a:lnSpc>
                <a:spcPct val="108000"/>
              </a:lnSpc>
              <a:buSzPct val="100000"/>
              <a:buChar char="•"/>
            </a:pPr>
            <a:r>
              <a:rPr lang="en-US" sz="800" dirty="0">
                <a:solidFill>
                  <a:srgbClr val="E0D6DE"/>
                </a:solidFill>
                <a:latin typeface="Noto Sans" pitchFamily="34" charset="0"/>
                <a:ea typeface="Noto Sans" pitchFamily="34" charset="-122"/>
                <a:cs typeface="Noto Sans" pitchFamily="34" charset="-120"/>
              </a:rPr>
              <a:t>Word length (characters)</a:t>
            </a:r>
            <a:endParaRPr lang="en-US" sz="800" dirty="0"/>
          </a:p>
          <a:p>
            <a:pPr algn="l" marL="162560" indent="-162560">
              <a:lnSpc>
                <a:spcPct val="108000"/>
              </a:lnSpc>
              <a:buSzPct val="100000"/>
              <a:buChar char="•"/>
            </a:pPr>
            <a:r>
              <a:rPr lang="en-US" sz="800" dirty="0">
                <a:solidFill>
                  <a:srgbClr val="E0D6DE"/>
                </a:solidFill>
                <a:latin typeface="Noto Sans" pitchFamily="34" charset="0"/>
                <a:ea typeface="Noto Sans" pitchFamily="34" charset="-122"/>
                <a:cs typeface="Noto Sans" pitchFamily="34" charset="-120"/>
              </a:rPr>
              <a:t>Syllable count</a:t>
            </a:r>
            <a:endParaRPr lang="en-US" sz="800" dirty="0"/>
          </a:p>
          <a:p>
            <a:pPr algn="l" marL="162560" indent="-162560">
              <a:lnSpc>
                <a:spcPct val="108000"/>
              </a:lnSpc>
              <a:buSzPct val="100000"/>
              <a:buChar char="•"/>
            </a:pPr>
            <a:r>
              <a:rPr lang="en-US" sz="800" dirty="0">
                <a:solidFill>
                  <a:srgbClr val="E0D6DE"/>
                </a:solidFill>
                <a:latin typeface="Noto Sans" pitchFamily="34" charset="0"/>
                <a:ea typeface="Noto Sans" pitchFamily="34" charset="-122"/>
                <a:cs typeface="Noto Sans" pitchFamily="34" charset="-120"/>
              </a:rPr>
              <a:t>Parsing accuracy (binary)</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477937"/>
            <a:ext cx="10868745" cy="306784"/>
          </a:xfrm>
          <a:prstGeom prst="rect">
            <a:avLst/>
          </a:prstGeom>
          <a:noFill/>
          <a:ln/>
        </p:spPr>
        <p:txBody>
          <a:bodyPr wrap="none" lIns="0" tIns="0" rIns="0" bIns="0" rtlCol="0" anchor="t"/>
          <a:lstStyle/>
          <a:p>
            <a:pPr algn="l" indent="0" marL="0">
              <a:lnSpc>
                <a:spcPct val="104000"/>
              </a:lnSpc>
              <a:buNone/>
            </a:pPr>
            <a:r>
              <a:rPr lang="en-US" sz="1900" dirty="0">
                <a:solidFill>
                  <a:srgbClr val="97B8FF"/>
                </a:solidFill>
                <a:latin typeface="Sora Medium" pitchFamily="34" charset="0"/>
                <a:ea typeface="Sora Medium" pitchFamily="34" charset="-122"/>
                <a:cs typeface="Sora Medium" pitchFamily="34" charset="-120"/>
              </a:rPr>
              <a:t>Parsing Accuracy Results</a:t>
            </a:r>
            <a:endParaRPr lang="en-US" sz="1900" dirty="0"/>
          </a:p>
        </p:txBody>
      </p:sp>
      <p:pic>
        <p:nvPicPr>
          <p:cNvPr id="3" name="Image 0" descr="preencoded.png">    </p:cNvPr>
          <p:cNvPicPr>
            <a:picLocks noChangeAspect="1"/>
          </p:cNvPicPr>
          <p:nvPr/>
        </p:nvPicPr>
        <p:blipFill>
          <a:blip r:embed="rId1"/>
          <a:stretch>
            <a:fillRect/>
          </a:stretch>
        </p:blipFill>
        <p:spPr>
          <a:xfrm>
            <a:off x="661475" y="937716"/>
            <a:ext cx="3505112" cy="2419350"/>
          </a:xfrm>
          <a:prstGeom prst="rect">
            <a:avLst/>
          </a:prstGeom>
        </p:spPr>
      </p:pic>
      <p:sp>
        <p:nvSpPr>
          <p:cNvPr id="4" name="Text 1"/>
          <p:cNvSpPr/>
          <p:nvPr/>
        </p:nvSpPr>
        <p:spPr>
          <a:xfrm>
            <a:off x="6221951" y="930374"/>
            <a:ext cx="5314619" cy="153392"/>
          </a:xfrm>
          <a:prstGeom prst="rect">
            <a:avLst/>
          </a:prstGeom>
          <a:noFill/>
          <a:ln/>
        </p:spPr>
        <p:txBody>
          <a:bodyPr wrap="none" lIns="0" tIns="0" rIns="0" bIns="0" rtlCol="0" anchor="t"/>
          <a:lstStyle/>
          <a:p>
            <a:pPr algn="l" indent="0" marL="0">
              <a:lnSpc>
                <a:spcPct val="104000"/>
              </a:lnSpc>
              <a:buNone/>
            </a:pPr>
            <a:r>
              <a:rPr lang="en-US" sz="950" dirty="0">
                <a:solidFill>
                  <a:srgbClr val="97B8FF"/>
                </a:solidFill>
                <a:latin typeface="Sora Medium" pitchFamily="34" charset="0"/>
                <a:ea typeface="Sora Medium" pitchFamily="34" charset="-122"/>
                <a:cs typeface="Sora Medium" pitchFamily="34" charset="-120"/>
              </a:rPr>
              <a:t>Accuracy Summary</a:t>
            </a:r>
            <a:endParaRPr lang="en-US" sz="9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221951" y="1149350"/>
          <a:ext cx="9143771" cy="914400"/>
        </p:xfrm>
        <a:graphic>
          <a:graphicData uri="http://schemas.openxmlformats.org/drawingml/2006/table">
            <a:tbl>
              <a:tblPr/>
              <a:tblGrid>
                <a:gridCol w="1328655"/>
                <a:gridCol w="1328655"/>
                <a:gridCol w="1328655"/>
                <a:gridCol w="1328655"/>
              </a:tblGrid>
              <a:tr h="210934">
                <a:tc>
                  <a:txBody>
                    <a:bodyPr/>
                    <a:lstStyle/>
                    <a:p>
                      <a:pPr indent="0" marL="0">
                        <a:buNone/>
                      </a:pPr>
                      <a:r>
                        <a:rPr lang="en-US" sz="800" b="1" dirty="0">
                          <a:solidFill>
                            <a:srgbClr val="E0D6DE"/>
                          </a:solidFill>
                          <a:latin typeface="Noto Sans" pitchFamily="34" charset="0"/>
                          <a:ea typeface="Noto Sans" pitchFamily="34" charset="-122"/>
                          <a:cs typeface="Noto Sans" pitchFamily="34" charset="-120"/>
                        </a:rPr>
                        <a:t>Category</a:t>
                      </a:r>
                      <a:endParaRPr lang="en-US" sz="800" dirty="0">
                        <a:latin typeface="Noto Sans" charset="0"/>
                        <a:ea typeface="Noto Sans" charset="0"/>
                        <a:cs typeface="Noto Sans" charset="0"/>
                      </a:endParaRPr>
                    </a:p>
                  </a:txBody>
                  <a:tcPr marL="98201" marR="98201" marT="6350" marB="6350" anchor="ctr">
                    <a:lnL w="12700" cap="flat" cmpd="sng" algn="ctr">
                      <a:solidFill>
                        <a:srgbClr val="434346"/>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c>
                  <a:txBody>
                    <a:bodyPr/>
                    <a:lstStyle/>
                    <a:p>
                      <a:pPr indent="0" marL="0">
                        <a:buNone/>
                      </a:pPr>
                      <a:r>
                        <a:rPr lang="en-US" sz="800" b="1" dirty="0">
                          <a:solidFill>
                            <a:srgbClr val="E0D6DE"/>
                          </a:solidFill>
                          <a:latin typeface="Noto Sans" pitchFamily="34" charset="0"/>
                          <a:ea typeface="Noto Sans" pitchFamily="34" charset="-122"/>
                          <a:cs typeface="Noto Sans" pitchFamily="34" charset="-120"/>
                        </a:rPr>
                        <a:t>Correct</a:t>
                      </a:r>
                      <a:endParaRPr lang="en-US" sz="800" dirty="0">
                        <a:latin typeface="Noto Sans" charset="0"/>
                        <a:ea typeface="Noto Sans" charset="0"/>
                        <a:cs typeface="Noto Sans" charset="0"/>
                      </a:endParaRPr>
                    </a:p>
                  </a:txBody>
                  <a:tcPr marL="98201" marR="98201" marT="6350" marB="6350" anchor="ct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c>
                  <a:txBody>
                    <a:bodyPr/>
                    <a:lstStyle/>
                    <a:p>
                      <a:pPr indent="0" marL="0">
                        <a:buNone/>
                      </a:pPr>
                      <a:r>
                        <a:rPr lang="en-US" sz="800" b="1" dirty="0">
                          <a:solidFill>
                            <a:srgbClr val="E0D6DE"/>
                          </a:solidFill>
                          <a:latin typeface="Noto Sans" pitchFamily="34" charset="0"/>
                          <a:ea typeface="Noto Sans" pitchFamily="34" charset="-122"/>
                          <a:cs typeface="Noto Sans" pitchFamily="34" charset="-120"/>
                        </a:rPr>
                        <a:t>Total</a:t>
                      </a:r>
                      <a:endParaRPr lang="en-US" sz="800" dirty="0">
                        <a:latin typeface="Noto Sans" charset="0"/>
                        <a:ea typeface="Noto Sans" charset="0"/>
                        <a:cs typeface="Noto Sans" charset="0"/>
                      </a:endParaRPr>
                    </a:p>
                  </a:txBody>
                  <a:tcPr marL="98201" marR="98201" marT="6350" marB="6350" anchor="ct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c>
                  <a:txBody>
                    <a:bodyPr/>
                    <a:lstStyle/>
                    <a:p>
                      <a:pPr indent="0" marL="0">
                        <a:buNone/>
                      </a:pPr>
                      <a:r>
                        <a:rPr lang="en-US" sz="800" b="1" dirty="0">
                          <a:solidFill>
                            <a:srgbClr val="E0D6DE"/>
                          </a:solidFill>
                          <a:latin typeface="Noto Sans" pitchFamily="34" charset="0"/>
                          <a:ea typeface="Noto Sans" pitchFamily="34" charset="-122"/>
                          <a:cs typeface="Noto Sans" pitchFamily="34" charset="-120"/>
                        </a:rPr>
                        <a:t>Accuracy</a:t>
                      </a:r>
                      <a:endParaRPr lang="en-US" sz="800" dirty="0">
                        <a:latin typeface="Noto Sans" charset="0"/>
                        <a:ea typeface="Noto Sans" charset="0"/>
                        <a:cs typeface="Noto Sans" charset="0"/>
                      </a:endParaRPr>
                    </a:p>
                  </a:txBody>
                  <a:tcPr marL="98201" marR="98201" marT="6350" marB="6350" anchor="ctr">
                    <a:lnL w="12700" cap="flat" cmpd="sng" algn="ctr">
                      <a:solidFill>
                        <a:srgbClr val="07070C"/>
                      </a:solidFill>
                      <a:prstDash val="solid"/>
                      <a:round/>
                      <a:headEnd type="none" w="med" len="med"/>
                      <a:tailEnd type="none" w="med" len="med"/>
                    </a:lnL>
                    <a:lnR w="12700" cap="flat" cmpd="sng" algn="ctr">
                      <a:solidFill>
                        <a:srgbClr val="434346"/>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r>
              <a:tr h="214109">
                <a:tc>
                  <a:txBody>
                    <a:bodyPr/>
                    <a:lstStyle/>
                    <a:p>
                      <a:pPr indent="0" marL="0">
                        <a:buNone/>
                      </a:pPr>
                      <a:r>
                        <a:rPr lang="en-US" sz="800" dirty="0">
                          <a:solidFill>
                            <a:srgbClr val="E0D6DE"/>
                          </a:solidFill>
                          <a:latin typeface="Noto Sans" pitchFamily="34" charset="0"/>
                          <a:ea typeface="Noto Sans" pitchFamily="34" charset="-122"/>
                          <a:cs typeface="Noto Sans" pitchFamily="34" charset="-120"/>
                        </a:rPr>
                        <a:t>Inflectional</a:t>
                      </a:r>
                      <a:endParaRPr lang="en-US" sz="800" dirty="0">
                        <a:latin typeface="Noto Sans" charset="0"/>
                        <a:ea typeface="Noto Sans" charset="0"/>
                        <a:cs typeface="Noto Sans" charset="0"/>
                      </a:endParaRPr>
                    </a:p>
                  </a:txBody>
                  <a:tcPr marL="98201" marR="98201" marT="6350" marB="6350" anchor="ctr">
                    <a:lnL w="12700" cap="flat" cmpd="sng" algn="ctr">
                      <a:solidFill>
                        <a:srgbClr val="434346"/>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c>
                  <a:txBody>
                    <a:bodyPr/>
                    <a:lstStyle/>
                    <a:p>
                      <a:pPr indent="0" marL="0">
                        <a:buNone/>
                      </a:pPr>
                      <a:r>
                        <a:rPr lang="en-US" sz="800" dirty="0">
                          <a:solidFill>
                            <a:srgbClr val="E0D6DE"/>
                          </a:solidFill>
                          <a:latin typeface="Noto Sans" pitchFamily="34" charset="0"/>
                          <a:ea typeface="Noto Sans" pitchFamily="34" charset="-122"/>
                          <a:cs typeface="Noto Sans" pitchFamily="34" charset="-120"/>
                        </a:rPr>
                        <a:t>460</a:t>
                      </a:r>
                      <a:endParaRPr lang="en-US" sz="800" dirty="0">
                        <a:latin typeface="Noto Sans" charset="0"/>
                        <a:ea typeface="Noto Sans" charset="0"/>
                        <a:cs typeface="Noto Sans" charset="0"/>
                      </a:endParaRPr>
                    </a:p>
                  </a:txBody>
                  <a:tcPr marL="98201" marR="98201" marT="6350" marB="6350" anchor="ct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c>
                  <a:txBody>
                    <a:bodyPr/>
                    <a:lstStyle/>
                    <a:p>
                      <a:pPr indent="0" marL="0">
                        <a:buNone/>
                      </a:pPr>
                      <a:r>
                        <a:rPr lang="en-US" sz="800" dirty="0">
                          <a:solidFill>
                            <a:srgbClr val="E0D6DE"/>
                          </a:solidFill>
                          <a:latin typeface="Noto Sans" pitchFamily="34" charset="0"/>
                          <a:ea typeface="Noto Sans" pitchFamily="34" charset="-122"/>
                          <a:cs typeface="Noto Sans" pitchFamily="34" charset="-120"/>
                        </a:rPr>
                        <a:t>500</a:t>
                      </a:r>
                      <a:endParaRPr lang="en-US" sz="800" dirty="0">
                        <a:latin typeface="Noto Sans" charset="0"/>
                        <a:ea typeface="Noto Sans" charset="0"/>
                        <a:cs typeface="Noto Sans" charset="0"/>
                      </a:endParaRPr>
                    </a:p>
                  </a:txBody>
                  <a:tcPr marL="98201" marR="98201" marT="6350" marB="6350" anchor="ct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c>
                  <a:txBody>
                    <a:bodyPr/>
                    <a:lstStyle/>
                    <a:p>
                      <a:pPr indent="0" marL="0">
                        <a:buNone/>
                      </a:pPr>
                      <a:r>
                        <a:rPr lang="en-US" sz="800" b="1" dirty="0">
                          <a:solidFill>
                            <a:srgbClr val="97B8FF"/>
                          </a:solidFill>
                          <a:latin typeface="Noto Sans" pitchFamily="34" charset="0"/>
                          <a:ea typeface="Noto Sans" pitchFamily="34" charset="-122"/>
                          <a:cs typeface="Noto Sans" pitchFamily="34" charset="-120"/>
                        </a:rPr>
                        <a:t>92.0%</a:t>
                      </a:r>
                      <a:endParaRPr lang="en-US" sz="800" dirty="0">
                        <a:latin typeface="Noto Sans" charset="0"/>
                        <a:ea typeface="Noto Sans" charset="0"/>
                        <a:cs typeface="Noto Sans" charset="0"/>
                      </a:endParaRPr>
                    </a:p>
                  </a:txBody>
                  <a:tcPr marL="98201" marR="98201" marT="6350" marB="6350" anchor="ctr">
                    <a:lnL w="12700" cap="flat" cmpd="sng" algn="ctr">
                      <a:solidFill>
                        <a:srgbClr val="07070C"/>
                      </a:solidFill>
                      <a:prstDash val="solid"/>
                      <a:round/>
                      <a:headEnd type="none" w="med" len="med"/>
                      <a:tailEnd type="none" w="med" len="med"/>
                    </a:lnL>
                    <a:lnR w="12700" cap="flat" cmpd="sng" algn="ctr">
                      <a:solidFill>
                        <a:srgbClr val="434346"/>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r>
              <a:tr h="214109">
                <a:tc>
                  <a:txBody>
                    <a:bodyPr/>
                    <a:lstStyle/>
                    <a:p>
                      <a:pPr indent="0" marL="0">
                        <a:buNone/>
                      </a:pPr>
                      <a:r>
                        <a:rPr lang="en-US" sz="800" dirty="0">
                          <a:solidFill>
                            <a:srgbClr val="E0D6DE"/>
                          </a:solidFill>
                          <a:latin typeface="Noto Sans" pitchFamily="34" charset="0"/>
                          <a:ea typeface="Noto Sans" pitchFamily="34" charset="-122"/>
                          <a:cs typeface="Noto Sans" pitchFamily="34" charset="-120"/>
                        </a:rPr>
                        <a:t>Derivational</a:t>
                      </a:r>
                      <a:endParaRPr lang="en-US" sz="800" dirty="0">
                        <a:latin typeface="Noto Sans" charset="0"/>
                        <a:ea typeface="Noto Sans" charset="0"/>
                        <a:cs typeface="Noto Sans" charset="0"/>
                      </a:endParaRPr>
                    </a:p>
                  </a:txBody>
                  <a:tcPr marL="98201" marR="98201" marT="6350" marB="6350" anchor="ctr">
                    <a:lnL w="12700" cap="flat" cmpd="sng" algn="ctr">
                      <a:solidFill>
                        <a:srgbClr val="434346"/>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c>
                  <a:txBody>
                    <a:bodyPr/>
                    <a:lstStyle/>
                    <a:p>
                      <a:pPr indent="0" marL="0">
                        <a:buNone/>
                      </a:pPr>
                      <a:r>
                        <a:rPr lang="en-US" sz="800" dirty="0">
                          <a:solidFill>
                            <a:srgbClr val="E0D6DE"/>
                          </a:solidFill>
                          <a:latin typeface="Noto Sans" pitchFamily="34" charset="0"/>
                          <a:ea typeface="Noto Sans" pitchFamily="34" charset="-122"/>
                          <a:cs typeface="Noto Sans" pitchFamily="34" charset="-120"/>
                        </a:rPr>
                        <a:t>405</a:t>
                      </a:r>
                      <a:endParaRPr lang="en-US" sz="800" dirty="0">
                        <a:latin typeface="Noto Sans" charset="0"/>
                        <a:ea typeface="Noto Sans" charset="0"/>
                        <a:cs typeface="Noto Sans" charset="0"/>
                      </a:endParaRPr>
                    </a:p>
                  </a:txBody>
                  <a:tcPr marL="98201" marR="98201" marT="6350" marB="6350" anchor="ct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c>
                  <a:txBody>
                    <a:bodyPr/>
                    <a:lstStyle/>
                    <a:p>
                      <a:pPr indent="0" marL="0">
                        <a:buNone/>
                      </a:pPr>
                      <a:r>
                        <a:rPr lang="en-US" sz="800" dirty="0">
                          <a:solidFill>
                            <a:srgbClr val="E0D6DE"/>
                          </a:solidFill>
                          <a:latin typeface="Noto Sans" pitchFamily="34" charset="0"/>
                          <a:ea typeface="Noto Sans" pitchFamily="34" charset="-122"/>
                          <a:cs typeface="Noto Sans" pitchFamily="34" charset="-120"/>
                        </a:rPr>
                        <a:t>500</a:t>
                      </a:r>
                      <a:endParaRPr lang="en-US" sz="800" dirty="0">
                        <a:latin typeface="Noto Sans" charset="0"/>
                        <a:ea typeface="Noto Sans" charset="0"/>
                        <a:cs typeface="Noto Sans" charset="0"/>
                      </a:endParaRPr>
                    </a:p>
                  </a:txBody>
                  <a:tcPr marL="98201" marR="98201" marT="6350" marB="6350" anchor="ct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c>
                  <a:txBody>
                    <a:bodyPr/>
                    <a:lstStyle/>
                    <a:p>
                      <a:pPr indent="0" marL="0">
                        <a:buNone/>
                      </a:pPr>
                      <a:r>
                        <a:rPr lang="en-US" sz="800" b="1" dirty="0">
                          <a:solidFill>
                            <a:srgbClr val="7AF0FF"/>
                          </a:solidFill>
                          <a:latin typeface="Noto Sans" pitchFamily="34" charset="0"/>
                          <a:ea typeface="Noto Sans" pitchFamily="34" charset="-122"/>
                          <a:cs typeface="Noto Sans" pitchFamily="34" charset="-120"/>
                        </a:rPr>
                        <a:t>81.0%</a:t>
                      </a:r>
                      <a:endParaRPr lang="en-US" sz="800" dirty="0">
                        <a:latin typeface="Noto Sans" charset="0"/>
                        <a:ea typeface="Noto Sans" charset="0"/>
                        <a:cs typeface="Noto Sans" charset="0"/>
                      </a:endParaRPr>
                    </a:p>
                  </a:txBody>
                  <a:tcPr marL="98201" marR="98201" marT="6350" marB="6350" anchor="ctr">
                    <a:lnL w="12700" cap="flat" cmpd="sng" algn="ctr">
                      <a:solidFill>
                        <a:srgbClr val="07070C"/>
                      </a:solidFill>
                      <a:prstDash val="solid"/>
                      <a:round/>
                      <a:headEnd type="none" w="med" len="med"/>
                      <a:tailEnd type="none" w="med" len="med"/>
                    </a:lnL>
                    <a:lnR w="12700" cap="flat" cmpd="sng" algn="ctr">
                      <a:solidFill>
                        <a:srgbClr val="434346"/>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r>
              <a:tr h="210934">
                <a:tc>
                  <a:txBody>
                    <a:bodyPr/>
                    <a:lstStyle/>
                    <a:p>
                      <a:pPr indent="0" marL="0">
                        <a:buNone/>
                      </a:pPr>
                      <a:r>
                        <a:rPr lang="en-US" sz="800" b="1" dirty="0">
                          <a:solidFill>
                            <a:srgbClr val="E0D6DE"/>
                          </a:solidFill>
                          <a:latin typeface="Noto Sans" pitchFamily="34" charset="0"/>
                          <a:ea typeface="Noto Sans" pitchFamily="34" charset="-122"/>
                          <a:cs typeface="Noto Sans" pitchFamily="34" charset="-120"/>
                        </a:rPr>
                        <a:t>Gap</a:t>
                      </a:r>
                      <a:endParaRPr lang="en-US" sz="800" dirty="0">
                        <a:latin typeface="Noto Sans" charset="0"/>
                        <a:ea typeface="Noto Sans" charset="0"/>
                        <a:cs typeface="Noto Sans" charset="0"/>
                      </a:endParaRPr>
                    </a:p>
                  </a:txBody>
                  <a:tcPr marL="98201" marR="98201" marT="6350" marB="6350" anchor="ctr">
                    <a:lnL w="12700" cap="flat" cmpd="sng" algn="ctr">
                      <a:solidFill>
                        <a:srgbClr val="434346"/>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c>
                  <a:txBody>
                    <a:bodyPr/>
                    <a:lstStyle/>
                    <a:p>
                      <a:pPr indent="0" marL="0">
                        <a:buNone/>
                      </a:pPr>
                      <a:r>
                        <a:rPr lang="en-US" sz="800" dirty="0">
                          <a:solidFill>
                            <a:srgbClr val="E0D6DE"/>
                          </a:solidFill>
                          <a:latin typeface="Noto Sans" pitchFamily="34" charset="0"/>
                          <a:ea typeface="Noto Sans" pitchFamily="34" charset="-122"/>
                          <a:cs typeface="Noto Sans" pitchFamily="34" charset="-120"/>
                        </a:rPr>
                        <a:t>55 forms</a:t>
                      </a:r>
                      <a:endParaRPr lang="en-US" sz="800" dirty="0">
                        <a:latin typeface="Noto Sans" charset="0"/>
                        <a:ea typeface="Noto Sans" charset="0"/>
                        <a:cs typeface="Noto Sans" charset="0"/>
                      </a:endParaRPr>
                    </a:p>
                  </a:txBody>
                  <a:tcPr marL="98201" marR="98201" marT="6350" marB="6350" anchor="ct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c>
                  <a:txBody>
                    <a:bodyPr/>
                    <a:lstStyle/>
                    <a:p>
                      <a:pPr indent="0" marL="0">
                        <a:buNone/>
                      </a:pPr>
                      <a:r>
                        <a:rPr lang="en-US" sz="800" dirty="0">
                          <a:solidFill>
                            <a:srgbClr val="E0D6DE"/>
                          </a:solidFill>
                          <a:latin typeface="Noto Sans" pitchFamily="34" charset="0"/>
                          <a:ea typeface="Noto Sans" pitchFamily="34" charset="-122"/>
                          <a:cs typeface="Noto Sans" pitchFamily="34" charset="-120"/>
                        </a:rPr>
                        <a:t>—</a:t>
                      </a:r>
                      <a:endParaRPr lang="en-US" sz="800" dirty="0">
                        <a:latin typeface="Noto Sans" charset="0"/>
                        <a:ea typeface="Noto Sans" charset="0"/>
                        <a:cs typeface="Noto Sans" charset="0"/>
                      </a:endParaRPr>
                    </a:p>
                  </a:txBody>
                  <a:tcPr marL="98201" marR="98201" marT="6350" marB="6350" anchor="ct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c>
                  <a:txBody>
                    <a:bodyPr/>
                    <a:lstStyle/>
                    <a:p>
                      <a:pPr indent="0" marL="0">
                        <a:buNone/>
                      </a:pPr>
                      <a:r>
                        <a:rPr lang="en-US" sz="800" b="1" dirty="0">
                          <a:solidFill>
                            <a:srgbClr val="E0D6DE"/>
                          </a:solidFill>
                          <a:latin typeface="Noto Sans" pitchFamily="34" charset="0"/>
                          <a:ea typeface="Noto Sans" pitchFamily="34" charset="-122"/>
                          <a:cs typeface="Noto Sans" pitchFamily="34" charset="-120"/>
                        </a:rPr>
                        <a:t>11.0 pp</a:t>
                      </a:r>
                      <a:endParaRPr lang="en-US" sz="800" dirty="0">
                        <a:latin typeface="Noto Sans" charset="0"/>
                        <a:ea typeface="Noto Sans" charset="0"/>
                        <a:cs typeface="Noto Sans" charset="0"/>
                      </a:endParaRPr>
                    </a:p>
                  </a:txBody>
                  <a:tcPr marL="98201" marR="98201" marT="6350" marB="6350" anchor="ctr">
                    <a:lnL w="12700" cap="flat" cmpd="sng" algn="ctr">
                      <a:solidFill>
                        <a:srgbClr val="07070C"/>
                      </a:solidFill>
                      <a:prstDash val="solid"/>
                      <a:round/>
                      <a:headEnd type="none" w="med" len="med"/>
                      <a:tailEnd type="none" w="med" len="med"/>
                    </a:lnL>
                    <a:lnR w="12700" cap="flat" cmpd="sng" algn="ctr">
                      <a:solidFill>
                        <a:srgbClr val="434346"/>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r>
            </a:tbl>
          </a:graphicData>
        </a:graphic>
      </p:graphicFrame>
      <p:sp>
        <p:nvSpPr>
          <p:cNvPr id="6" name="Text 2"/>
          <p:cNvSpPr/>
          <p:nvPr/>
        </p:nvSpPr>
        <p:spPr>
          <a:xfrm>
            <a:off x="6221951" y="2077740"/>
            <a:ext cx="5314619" cy="153392"/>
          </a:xfrm>
          <a:prstGeom prst="rect">
            <a:avLst/>
          </a:prstGeom>
          <a:noFill/>
          <a:ln/>
        </p:spPr>
        <p:txBody>
          <a:bodyPr wrap="none" lIns="0" tIns="0" rIns="0" bIns="0" rtlCol="0" anchor="t"/>
          <a:lstStyle/>
          <a:p>
            <a:pPr algn="l" indent="0" marL="0">
              <a:lnSpc>
                <a:spcPct val="104000"/>
              </a:lnSpc>
              <a:buNone/>
            </a:pPr>
            <a:r>
              <a:rPr lang="en-US" sz="950" dirty="0">
                <a:solidFill>
                  <a:srgbClr val="97B8FF"/>
                </a:solidFill>
                <a:latin typeface="Sora Medium" pitchFamily="34" charset="0"/>
                <a:ea typeface="Sora Medium" pitchFamily="34" charset="-122"/>
                <a:cs typeface="Sora Medium" pitchFamily="34" charset="-120"/>
              </a:rPr>
              <a:t>Interpretation</a:t>
            </a:r>
            <a:endParaRPr lang="en-US" sz="950" dirty="0"/>
          </a:p>
        </p:txBody>
      </p:sp>
      <p:sp>
        <p:nvSpPr>
          <p:cNvPr id="7" name="Text 3"/>
          <p:cNvSpPr/>
          <p:nvPr/>
        </p:nvSpPr>
        <p:spPr>
          <a:xfrm>
            <a:off x="6221951" y="2289373"/>
            <a:ext cx="5314619" cy="375642"/>
          </a:xfrm>
          <a:prstGeom prst="rect">
            <a:avLst/>
          </a:prstGeom>
          <a:noFill/>
          <a:ln/>
        </p:spPr>
        <p:txBody>
          <a:bodyPr wrap="square" lIns="0" tIns="0" rIns="0" bIns="0" rtlCol="0" anchor="t">
            <a:normAutofit/>
          </a:bodyPr>
          <a:lstStyle/>
          <a:p>
            <a:pPr algn="l" indent="0" marL="0">
              <a:lnSpc>
                <a:spcPct val="106000"/>
              </a:lnSpc>
              <a:buNone/>
            </a:pPr>
            <a:r>
              <a:rPr lang="en-US" sz="750" dirty="0">
                <a:solidFill>
                  <a:srgbClr val="E0D6DE"/>
                </a:solidFill>
                <a:latin typeface="Noto Sans" pitchFamily="34" charset="0"/>
                <a:ea typeface="Noto Sans" pitchFamily="34" charset="-122"/>
                <a:cs typeface="Noto Sans" pitchFamily="34" charset="-120"/>
              </a:rPr>
              <a:t>The rule-based system achieves strong performance on inflectional forms, where affix rules are regular and predictable. The </a:t>
            </a:r>
            <a:pPr algn="l" indent="0" marL="0">
              <a:lnSpc>
                <a:spcPct val="106000"/>
              </a:lnSpc>
              <a:buNone/>
            </a:pPr>
            <a:r>
              <a:rPr lang="en-US" sz="750" b="1" dirty="0">
                <a:solidFill>
                  <a:srgbClr val="E0D6DE"/>
                </a:solidFill>
                <a:latin typeface="Noto Sans Bold" pitchFamily="34" charset="0"/>
                <a:ea typeface="Noto Sans Bold" pitchFamily="34" charset="-122"/>
                <a:cs typeface="Noto Sans Bold" pitchFamily="34" charset="-120"/>
              </a:rPr>
              <a:t>11.0 percentage point gap</a:t>
            </a:r>
            <a:pPr algn="l" indent="0" marL="0">
              <a:lnSpc>
                <a:spcPct val="106000"/>
              </a:lnSpc>
              <a:buNone/>
            </a:pPr>
            <a:r>
              <a:rPr lang="en-US" sz="750" dirty="0">
                <a:solidFill>
                  <a:srgbClr val="E0D6DE"/>
                </a:solidFill>
                <a:latin typeface="Noto Sans" pitchFamily="34" charset="0"/>
                <a:ea typeface="Noto Sans" pitchFamily="34" charset="-122"/>
                <a:cs typeface="Noto Sans" pitchFamily="34" charset="-120"/>
              </a:rPr>
              <a:t> reflects the structural complexity introduced by derivational processes — particularly part-of-speech changes and irregular affix behavior.</a:t>
            </a:r>
            <a:endParaRPr lang="en-US" sz="750" dirty="0"/>
          </a:p>
        </p:txBody>
      </p:sp>
      <p:sp>
        <p:nvSpPr>
          <p:cNvPr id="8" name="Text 4"/>
          <p:cNvSpPr/>
          <p:nvPr/>
        </p:nvSpPr>
        <p:spPr>
          <a:xfrm>
            <a:off x="8275331" y="3368873"/>
            <a:ext cx="1207760" cy="245467"/>
          </a:xfrm>
          <a:prstGeom prst="rect">
            <a:avLst/>
          </a:prstGeom>
          <a:noFill/>
          <a:ln/>
        </p:spPr>
        <p:txBody>
          <a:bodyPr wrap="none" lIns="0" tIns="0" rIns="0" bIns="0" rtlCol="0" anchor="t"/>
          <a:lstStyle/>
          <a:p>
            <a:pPr algn="ctr" indent="0" marL="0">
              <a:lnSpc>
                <a:spcPct val="83000"/>
              </a:lnSpc>
              <a:buNone/>
            </a:pPr>
            <a:r>
              <a:rPr lang="en-US" sz="1900" dirty="0">
                <a:solidFill>
                  <a:srgbClr val="E0D6DE"/>
                </a:solidFill>
                <a:latin typeface="Sora Medium" pitchFamily="34" charset="0"/>
                <a:ea typeface="Sora Medium" pitchFamily="34" charset="-122"/>
                <a:cs typeface="Sora Medium" pitchFamily="34" charset="-120"/>
              </a:rPr>
              <a:t>92%</a:t>
            </a:r>
            <a:endParaRPr lang="en-US" sz="1900" dirty="0"/>
          </a:p>
        </p:txBody>
      </p:sp>
      <p:pic>
        <p:nvPicPr>
          <p:cNvPr id="9" name="Image 1" descr="preencoded.png">    </p:cNvPr>
          <p:cNvPicPr>
            <a:picLocks noChangeAspect="1"/>
          </p:cNvPicPr>
          <p:nvPr/>
        </p:nvPicPr>
        <p:blipFill>
          <a:blip r:embed="rId2"/>
          <a:stretch>
            <a:fillRect/>
          </a:stretch>
        </p:blipFill>
        <p:spPr>
          <a:xfrm>
            <a:off x="8142778" y="2755106"/>
            <a:ext cx="1472965" cy="1473002"/>
          </a:xfrm>
          <a:prstGeom prst="rect">
            <a:avLst/>
          </a:prstGeom>
        </p:spPr>
      </p:pic>
      <p:sp>
        <p:nvSpPr>
          <p:cNvPr id="10" name="Text 5"/>
          <p:cNvSpPr/>
          <p:nvPr/>
        </p:nvSpPr>
        <p:spPr>
          <a:xfrm>
            <a:off x="6221951" y="4310856"/>
            <a:ext cx="5314619" cy="153392"/>
          </a:xfrm>
          <a:prstGeom prst="rect">
            <a:avLst/>
          </a:prstGeom>
          <a:noFill/>
          <a:ln/>
        </p:spPr>
        <p:txBody>
          <a:bodyPr wrap="none" lIns="0" tIns="0" rIns="0" bIns="0" rtlCol="0" anchor="t"/>
          <a:lstStyle/>
          <a:p>
            <a:pPr algn="ctr" indent="0" marL="0">
              <a:lnSpc>
                <a:spcPct val="104000"/>
              </a:lnSpc>
              <a:buNone/>
            </a:pPr>
            <a:r>
              <a:rPr lang="en-US" sz="950" dirty="0">
                <a:solidFill>
                  <a:srgbClr val="E0D6DE"/>
                </a:solidFill>
                <a:latin typeface="Sora Medium" pitchFamily="34" charset="0"/>
                <a:ea typeface="Sora Medium" pitchFamily="34" charset="-122"/>
                <a:cs typeface="Sora Medium" pitchFamily="34" charset="-120"/>
              </a:rPr>
              <a:t>Inflectional</a:t>
            </a:r>
            <a:endParaRPr lang="en-US" sz="950" dirty="0"/>
          </a:p>
        </p:txBody>
      </p:sp>
      <p:sp>
        <p:nvSpPr>
          <p:cNvPr id="11" name="Text 6"/>
          <p:cNvSpPr/>
          <p:nvPr/>
        </p:nvSpPr>
        <p:spPr>
          <a:xfrm>
            <a:off x="8275331" y="5219105"/>
            <a:ext cx="1207760" cy="245467"/>
          </a:xfrm>
          <a:prstGeom prst="rect">
            <a:avLst/>
          </a:prstGeom>
          <a:noFill/>
          <a:ln/>
        </p:spPr>
        <p:txBody>
          <a:bodyPr wrap="none" lIns="0" tIns="0" rIns="0" bIns="0" rtlCol="0" anchor="t"/>
          <a:lstStyle/>
          <a:p>
            <a:pPr algn="ctr" indent="0" marL="0">
              <a:lnSpc>
                <a:spcPct val="83000"/>
              </a:lnSpc>
              <a:buNone/>
            </a:pPr>
            <a:r>
              <a:rPr lang="en-US" sz="1900" dirty="0">
                <a:solidFill>
                  <a:srgbClr val="E0D6DE"/>
                </a:solidFill>
                <a:latin typeface="Sora Medium" pitchFamily="34" charset="0"/>
                <a:ea typeface="Sora Medium" pitchFamily="34" charset="-122"/>
                <a:cs typeface="Sora Medium" pitchFamily="34" charset="-120"/>
              </a:rPr>
              <a:t>81%</a:t>
            </a:r>
            <a:endParaRPr lang="en-US" sz="1900" dirty="0"/>
          </a:p>
        </p:txBody>
      </p:sp>
      <p:pic>
        <p:nvPicPr>
          <p:cNvPr id="12" name="Image 2" descr="preencoded.png">    </p:cNvPr>
          <p:cNvPicPr>
            <a:picLocks noChangeAspect="1"/>
          </p:cNvPicPr>
          <p:nvPr/>
        </p:nvPicPr>
        <p:blipFill>
          <a:blip r:embed="rId3"/>
          <a:stretch>
            <a:fillRect/>
          </a:stretch>
        </p:blipFill>
        <p:spPr>
          <a:xfrm>
            <a:off x="8142778" y="4605338"/>
            <a:ext cx="1472965" cy="1473002"/>
          </a:xfrm>
          <a:prstGeom prst="rect">
            <a:avLst/>
          </a:prstGeom>
        </p:spPr>
      </p:pic>
      <p:sp>
        <p:nvSpPr>
          <p:cNvPr id="13" name="Text 7"/>
          <p:cNvSpPr/>
          <p:nvPr/>
        </p:nvSpPr>
        <p:spPr>
          <a:xfrm>
            <a:off x="6221951" y="6161088"/>
            <a:ext cx="5314619" cy="153392"/>
          </a:xfrm>
          <a:prstGeom prst="rect">
            <a:avLst/>
          </a:prstGeom>
          <a:noFill/>
          <a:ln/>
        </p:spPr>
        <p:txBody>
          <a:bodyPr wrap="none" lIns="0" tIns="0" rIns="0" bIns="0" rtlCol="0" anchor="t"/>
          <a:lstStyle/>
          <a:p>
            <a:pPr algn="ctr" indent="0" marL="0">
              <a:lnSpc>
                <a:spcPct val="104000"/>
              </a:lnSpc>
              <a:buNone/>
            </a:pPr>
            <a:r>
              <a:rPr lang="en-US" sz="950" dirty="0">
                <a:solidFill>
                  <a:srgbClr val="E0D6DE"/>
                </a:solidFill>
                <a:latin typeface="Sora Medium" pitchFamily="34" charset="0"/>
                <a:ea typeface="Sora Medium" pitchFamily="34" charset="-122"/>
                <a:cs typeface="Sora Medium" pitchFamily="34" charset="-120"/>
              </a:rPr>
              <a:t>Derivational</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482402"/>
            <a:ext cx="10868745" cy="395684"/>
          </a:xfrm>
          <a:prstGeom prst="rect">
            <a:avLst/>
          </a:prstGeom>
          <a:noFill/>
          <a:ln/>
        </p:spPr>
        <p:txBody>
          <a:bodyPr wrap="none" lIns="0" tIns="0" rIns="0" bIns="0" rtlCol="0" anchor="t"/>
          <a:lstStyle/>
          <a:p>
            <a:pPr algn="l" indent="0" marL="0">
              <a:lnSpc>
                <a:spcPct val="104000"/>
              </a:lnSpc>
              <a:buNone/>
            </a:pPr>
            <a:r>
              <a:rPr lang="en-US" sz="2450" dirty="0">
                <a:solidFill>
                  <a:srgbClr val="97B8FF"/>
                </a:solidFill>
                <a:latin typeface="Sora Medium" pitchFamily="34" charset="0"/>
                <a:ea typeface="Sora Medium" pitchFamily="34" charset="-122"/>
                <a:cs typeface="Sora Medium" pitchFamily="34" charset="-120"/>
              </a:rPr>
              <a:t>Structural Complexity &amp; Formation Process Accuracy</a:t>
            </a:r>
            <a:endParaRPr lang="en-US" sz="2450" dirty="0"/>
          </a:p>
        </p:txBody>
      </p:sp>
      <p:pic>
        <p:nvPicPr>
          <p:cNvPr id="3" name="Image 0" descr="preencoded.png">    </p:cNvPr>
          <p:cNvPicPr>
            <a:picLocks noChangeAspect="1"/>
          </p:cNvPicPr>
          <p:nvPr/>
        </p:nvPicPr>
        <p:blipFill>
          <a:blip r:embed="rId1"/>
          <a:stretch>
            <a:fillRect/>
          </a:stretch>
        </p:blipFill>
        <p:spPr>
          <a:xfrm>
            <a:off x="661475" y="1071959"/>
            <a:ext cx="4089298" cy="2324100"/>
          </a:xfrm>
          <a:prstGeom prst="rect">
            <a:avLst/>
          </a:prstGeom>
        </p:spPr>
      </p:pic>
      <p:sp>
        <p:nvSpPr>
          <p:cNvPr id="4" name="Text 1"/>
          <p:cNvSpPr/>
          <p:nvPr/>
        </p:nvSpPr>
        <p:spPr>
          <a:xfrm>
            <a:off x="661475" y="3602038"/>
            <a:ext cx="5279893" cy="197743"/>
          </a:xfrm>
          <a:prstGeom prst="rect">
            <a:avLst/>
          </a:prstGeom>
          <a:noFill/>
          <a:ln/>
        </p:spPr>
        <p:txBody>
          <a:bodyPr wrap="none" lIns="0" tIns="0" rIns="0" bIns="0" rtlCol="0" anchor="t"/>
          <a:lstStyle/>
          <a:p>
            <a:pPr algn="l" indent="0" marL="0">
              <a:lnSpc>
                <a:spcPct val="104000"/>
              </a:lnSpc>
              <a:buNone/>
            </a:pPr>
            <a:r>
              <a:rPr lang="en-US" sz="1200" dirty="0">
                <a:solidFill>
                  <a:srgbClr val="97B8FF"/>
                </a:solidFill>
                <a:latin typeface="Sora Medium" pitchFamily="34" charset="0"/>
                <a:ea typeface="Sora Medium" pitchFamily="34" charset="-122"/>
                <a:cs typeface="Sora Medium" pitchFamily="34" charset="-120"/>
              </a:rPr>
              <a:t>Structural Metrics Compared</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61475" y="3908822"/>
          <a:ext cx="9143771" cy="914400"/>
        </p:xfrm>
        <a:graphic>
          <a:graphicData uri="http://schemas.openxmlformats.org/drawingml/2006/table">
            <a:tbl>
              <a:tblPr/>
              <a:tblGrid>
                <a:gridCol w="1759964"/>
                <a:gridCol w="1759964"/>
                <a:gridCol w="1759964"/>
              </a:tblGrid>
              <a:tr h="310944">
                <a:tc>
                  <a:txBody>
                    <a:bodyPr/>
                    <a:lstStyle/>
                    <a:p>
                      <a:pPr indent="0" marL="0">
                        <a:buNone/>
                      </a:pPr>
                      <a:r>
                        <a:rPr lang="en-US" sz="950" b="1" dirty="0">
                          <a:solidFill>
                            <a:srgbClr val="E0D6DE"/>
                          </a:solidFill>
                          <a:latin typeface="Noto Sans" pitchFamily="34" charset="0"/>
                          <a:ea typeface="Noto Sans" pitchFamily="34" charset="-122"/>
                          <a:cs typeface="Noto Sans" pitchFamily="34" charset="-120"/>
                        </a:rPr>
                        <a:t>Metric</a:t>
                      </a:r>
                      <a:endParaRPr lang="en-US" sz="950" dirty="0">
                        <a:latin typeface="Noto Sans" charset="0"/>
                        <a:ea typeface="Noto Sans" charset="0"/>
                        <a:cs typeface="Noto Sans" charset="0"/>
                      </a:endParaRPr>
                    </a:p>
                  </a:txBody>
                  <a:tcPr marL="126628" marR="126628" marT="6350" marB="6350" anchor="ctr">
                    <a:lnL w="12700" cap="flat" cmpd="sng" algn="ctr">
                      <a:solidFill>
                        <a:srgbClr val="434346"/>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c>
                  <a:txBody>
                    <a:bodyPr/>
                    <a:lstStyle/>
                    <a:p>
                      <a:pPr indent="0" marL="0">
                        <a:buNone/>
                      </a:pPr>
                      <a:r>
                        <a:rPr lang="en-US" sz="950" b="1" dirty="0">
                          <a:solidFill>
                            <a:srgbClr val="E0D6DE"/>
                          </a:solidFill>
                          <a:latin typeface="Noto Sans" pitchFamily="34" charset="0"/>
                          <a:ea typeface="Noto Sans" pitchFamily="34" charset="-122"/>
                          <a:cs typeface="Noto Sans" pitchFamily="34" charset="-120"/>
                        </a:rPr>
                        <a:t>Inflectional</a:t>
                      </a:r>
                      <a:endParaRPr lang="en-US" sz="950" dirty="0">
                        <a:latin typeface="Noto Sans" charset="0"/>
                        <a:ea typeface="Noto Sans" charset="0"/>
                        <a:cs typeface="Noto Sans" charset="0"/>
                      </a:endParaRPr>
                    </a:p>
                  </a:txBody>
                  <a:tcPr marL="126628" marR="126628" marT="6350" marB="6350" anchor="ct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c>
                  <a:txBody>
                    <a:bodyPr/>
                    <a:lstStyle/>
                    <a:p>
                      <a:pPr indent="0" marL="0">
                        <a:buNone/>
                      </a:pPr>
                      <a:r>
                        <a:rPr lang="en-US" sz="950" b="1" dirty="0">
                          <a:solidFill>
                            <a:srgbClr val="E0D6DE"/>
                          </a:solidFill>
                          <a:latin typeface="Noto Sans" pitchFamily="34" charset="0"/>
                          <a:ea typeface="Noto Sans" pitchFamily="34" charset="-122"/>
                          <a:cs typeface="Noto Sans" pitchFamily="34" charset="-120"/>
                        </a:rPr>
                        <a:t>Derivational</a:t>
                      </a:r>
                      <a:endParaRPr lang="en-US" sz="950" dirty="0">
                        <a:latin typeface="Noto Sans" charset="0"/>
                        <a:ea typeface="Noto Sans" charset="0"/>
                        <a:cs typeface="Noto Sans" charset="0"/>
                      </a:endParaRPr>
                    </a:p>
                  </a:txBody>
                  <a:tcPr marL="126628" marR="126628" marT="6350" marB="6350" anchor="ctr">
                    <a:lnL w="12700" cap="flat" cmpd="sng" algn="ctr">
                      <a:solidFill>
                        <a:srgbClr val="07070C"/>
                      </a:solidFill>
                      <a:prstDash val="solid"/>
                      <a:round/>
                      <a:headEnd type="none" w="med" len="med"/>
                      <a:tailEnd type="none" w="med" len="med"/>
                    </a:lnL>
                    <a:lnR w="12700" cap="flat" cmpd="sng" algn="ctr">
                      <a:solidFill>
                        <a:srgbClr val="434346"/>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r>
              <a:tr h="314119">
                <a:tc>
                  <a:txBody>
                    <a:bodyPr/>
                    <a:lstStyle/>
                    <a:p>
                      <a:pPr indent="0" marL="0">
                        <a:buNone/>
                      </a:pPr>
                      <a:r>
                        <a:rPr lang="en-US" sz="950" dirty="0">
                          <a:solidFill>
                            <a:srgbClr val="E0D6DE"/>
                          </a:solidFill>
                          <a:latin typeface="Noto Sans" pitchFamily="34" charset="0"/>
                          <a:ea typeface="Noto Sans" pitchFamily="34" charset="-122"/>
                          <a:cs typeface="Noto Sans" pitchFamily="34" charset="-120"/>
                        </a:rPr>
                        <a:t>Avg. Word Length</a:t>
                      </a:r>
                      <a:endParaRPr lang="en-US" sz="950" dirty="0">
                        <a:latin typeface="Noto Sans" charset="0"/>
                        <a:ea typeface="Noto Sans" charset="0"/>
                        <a:cs typeface="Noto Sans" charset="0"/>
                      </a:endParaRPr>
                    </a:p>
                  </a:txBody>
                  <a:tcPr marL="126628" marR="126628" marT="6350" marB="6350" anchor="ctr">
                    <a:lnL w="12700" cap="flat" cmpd="sng" algn="ctr">
                      <a:solidFill>
                        <a:srgbClr val="434346"/>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c>
                  <a:txBody>
                    <a:bodyPr/>
                    <a:lstStyle/>
                    <a:p>
                      <a:pPr indent="0" marL="0">
                        <a:buNone/>
                      </a:pPr>
                      <a:r>
                        <a:rPr lang="en-US" sz="950" dirty="0">
                          <a:solidFill>
                            <a:srgbClr val="E0D6DE"/>
                          </a:solidFill>
                          <a:latin typeface="Noto Sans" pitchFamily="34" charset="0"/>
                          <a:ea typeface="Noto Sans" pitchFamily="34" charset="-122"/>
                          <a:cs typeface="Noto Sans" pitchFamily="34" charset="-120"/>
                        </a:rPr>
                        <a:t>6.8 chars</a:t>
                      </a:r>
                      <a:endParaRPr lang="en-US" sz="950" dirty="0">
                        <a:latin typeface="Noto Sans" charset="0"/>
                        <a:ea typeface="Noto Sans" charset="0"/>
                        <a:cs typeface="Noto Sans" charset="0"/>
                      </a:endParaRPr>
                    </a:p>
                  </a:txBody>
                  <a:tcPr marL="126628" marR="126628" marT="6350" marB="6350" anchor="ct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c>
                  <a:txBody>
                    <a:bodyPr/>
                    <a:lstStyle/>
                    <a:p>
                      <a:pPr indent="0" marL="0">
                        <a:buNone/>
                      </a:pPr>
                      <a:r>
                        <a:rPr lang="en-US" sz="950" b="1" dirty="0">
                          <a:solidFill>
                            <a:srgbClr val="E0D6DE"/>
                          </a:solidFill>
                          <a:latin typeface="Noto Sans" pitchFamily="34" charset="0"/>
                          <a:ea typeface="Noto Sans" pitchFamily="34" charset="-122"/>
                          <a:cs typeface="Noto Sans" pitchFamily="34" charset="-120"/>
                        </a:rPr>
                        <a:t>8.4 chars</a:t>
                      </a:r>
                      <a:endParaRPr lang="en-US" sz="950" dirty="0">
                        <a:latin typeface="Noto Sans" charset="0"/>
                        <a:ea typeface="Noto Sans" charset="0"/>
                        <a:cs typeface="Noto Sans" charset="0"/>
                      </a:endParaRPr>
                    </a:p>
                  </a:txBody>
                  <a:tcPr marL="126628" marR="126628" marT="6350" marB="6350" anchor="ctr">
                    <a:lnL w="12700" cap="flat" cmpd="sng" algn="ctr">
                      <a:solidFill>
                        <a:srgbClr val="07070C"/>
                      </a:solidFill>
                      <a:prstDash val="solid"/>
                      <a:round/>
                      <a:headEnd type="none" w="med" len="med"/>
                      <a:tailEnd type="none" w="med" len="med"/>
                    </a:lnL>
                    <a:lnR w="12700" cap="flat" cmpd="sng" algn="ctr">
                      <a:solidFill>
                        <a:srgbClr val="434346"/>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r>
              <a:tr h="310944">
                <a:tc>
                  <a:txBody>
                    <a:bodyPr/>
                    <a:lstStyle/>
                    <a:p>
                      <a:pPr indent="0" marL="0">
                        <a:buNone/>
                      </a:pPr>
                      <a:r>
                        <a:rPr lang="en-US" sz="950" dirty="0">
                          <a:solidFill>
                            <a:srgbClr val="E0D6DE"/>
                          </a:solidFill>
                          <a:latin typeface="Noto Sans" pitchFamily="34" charset="0"/>
                          <a:ea typeface="Noto Sans" pitchFamily="34" charset="-122"/>
                          <a:cs typeface="Noto Sans" pitchFamily="34" charset="-120"/>
                        </a:rPr>
                        <a:t>POS Change Rate</a:t>
                      </a:r>
                      <a:endParaRPr lang="en-US" sz="950" dirty="0">
                        <a:latin typeface="Noto Sans" charset="0"/>
                        <a:ea typeface="Noto Sans" charset="0"/>
                        <a:cs typeface="Noto Sans" charset="0"/>
                      </a:endParaRPr>
                    </a:p>
                  </a:txBody>
                  <a:tcPr marL="126628" marR="126628" marT="6350" marB="6350" anchor="ctr">
                    <a:lnL w="12700" cap="flat" cmpd="sng" algn="ctr">
                      <a:solidFill>
                        <a:srgbClr val="434346"/>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c>
                  <a:txBody>
                    <a:bodyPr/>
                    <a:lstStyle/>
                    <a:p>
                      <a:pPr indent="0" marL="0">
                        <a:buNone/>
                      </a:pPr>
                      <a:r>
                        <a:rPr lang="en-US" sz="950" dirty="0">
                          <a:solidFill>
                            <a:srgbClr val="E0D6DE"/>
                          </a:solidFill>
                          <a:latin typeface="Noto Sans" pitchFamily="34" charset="0"/>
                          <a:ea typeface="Noto Sans" pitchFamily="34" charset="-122"/>
                          <a:cs typeface="Noto Sans" pitchFamily="34" charset="-120"/>
                        </a:rPr>
                        <a:t>4.0%</a:t>
                      </a:r>
                      <a:endParaRPr lang="en-US" sz="950" dirty="0">
                        <a:latin typeface="Noto Sans" charset="0"/>
                        <a:ea typeface="Noto Sans" charset="0"/>
                        <a:cs typeface="Noto Sans" charset="0"/>
                      </a:endParaRPr>
                    </a:p>
                  </a:txBody>
                  <a:tcPr marL="126628" marR="126628" marT="6350" marB="6350" anchor="ctr">
                    <a:lnL w="12700" cap="flat" cmpd="sng" algn="ctr">
                      <a:solidFill>
                        <a:srgbClr val="07070C"/>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c>
                  <a:txBody>
                    <a:bodyPr/>
                    <a:lstStyle/>
                    <a:p>
                      <a:pPr indent="0" marL="0">
                        <a:buNone/>
                      </a:pPr>
                      <a:r>
                        <a:rPr lang="en-US" sz="950" b="1" dirty="0">
                          <a:solidFill>
                            <a:srgbClr val="97B8FF"/>
                          </a:solidFill>
                          <a:latin typeface="Noto Sans" pitchFamily="34" charset="0"/>
                          <a:ea typeface="Noto Sans" pitchFamily="34" charset="-122"/>
                          <a:cs typeface="Noto Sans" pitchFamily="34" charset="-120"/>
                        </a:rPr>
                        <a:t>78.0%</a:t>
                      </a:r>
                      <a:endParaRPr lang="en-US" sz="950" dirty="0">
                        <a:latin typeface="Noto Sans" charset="0"/>
                        <a:ea typeface="Noto Sans" charset="0"/>
                        <a:cs typeface="Noto Sans" charset="0"/>
                      </a:endParaRPr>
                    </a:p>
                  </a:txBody>
                  <a:tcPr marL="126628" marR="126628" marT="6350" marB="6350" anchor="ctr">
                    <a:lnL w="12700" cap="flat" cmpd="sng" algn="ctr">
                      <a:solidFill>
                        <a:srgbClr val="07070C"/>
                      </a:solidFill>
                      <a:prstDash val="solid"/>
                      <a:round/>
                      <a:headEnd type="none" w="med" len="med"/>
                      <a:tailEnd type="none" w="med" len="med"/>
                    </a:lnL>
                    <a:lnR w="12700" cap="flat" cmpd="sng" algn="ctr">
                      <a:solidFill>
                        <a:srgbClr val="434346"/>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r>
            </a:tbl>
          </a:graphicData>
        </a:graphic>
      </p:graphicFrame>
      <p:sp>
        <p:nvSpPr>
          <p:cNvPr id="6" name="Text 2"/>
          <p:cNvSpPr/>
          <p:nvPr/>
        </p:nvSpPr>
        <p:spPr>
          <a:xfrm>
            <a:off x="6256677" y="3602038"/>
            <a:ext cx="5279893" cy="197743"/>
          </a:xfrm>
          <a:prstGeom prst="rect">
            <a:avLst/>
          </a:prstGeom>
          <a:noFill/>
          <a:ln/>
        </p:spPr>
        <p:txBody>
          <a:bodyPr wrap="none" lIns="0" tIns="0" rIns="0" bIns="0" rtlCol="0" anchor="t"/>
          <a:lstStyle/>
          <a:p>
            <a:pPr algn="l" indent="0" marL="0">
              <a:lnSpc>
                <a:spcPct val="104000"/>
              </a:lnSpc>
              <a:buNone/>
            </a:pPr>
            <a:r>
              <a:rPr lang="en-US" sz="1200" dirty="0">
                <a:solidFill>
                  <a:srgbClr val="97B8FF"/>
                </a:solidFill>
                <a:latin typeface="Sora Medium" pitchFamily="34" charset="0"/>
                <a:ea typeface="Sora Medium" pitchFamily="34" charset="-122"/>
                <a:cs typeface="Sora Medium" pitchFamily="34" charset="-120"/>
              </a:rPr>
              <a:t>Accuracy by Formation Process</a:t>
            </a:r>
            <a:endParaRPr lang="en-US" sz="12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256677" y="3908822"/>
          <a:ext cx="9143771" cy="914400"/>
        </p:xfrm>
        <a:graphic>
          <a:graphicData uri="http://schemas.openxmlformats.org/drawingml/2006/table">
            <a:tbl>
              <a:tblPr/>
              <a:tblGrid>
                <a:gridCol w="2639946"/>
                <a:gridCol w="2639946"/>
              </a:tblGrid>
              <a:tr h="310944">
                <a:tc>
                  <a:txBody>
                    <a:bodyPr/>
                    <a:lstStyle/>
                    <a:p>
                      <a:pPr indent="0" marL="0">
                        <a:buNone/>
                      </a:pPr>
                      <a:r>
                        <a:rPr lang="en-US" sz="950" b="1" dirty="0">
                          <a:solidFill>
                            <a:srgbClr val="E0D6DE"/>
                          </a:solidFill>
                          <a:latin typeface="Noto Sans" pitchFamily="34" charset="0"/>
                          <a:ea typeface="Noto Sans" pitchFamily="34" charset="-122"/>
                          <a:cs typeface="Noto Sans" pitchFamily="34" charset="-120"/>
                        </a:rPr>
                        <a:t>Process</a:t>
                      </a:r>
                      <a:endParaRPr lang="en-US" sz="950" dirty="0">
                        <a:latin typeface="Noto Sans" charset="0"/>
                        <a:ea typeface="Noto Sans" charset="0"/>
                        <a:cs typeface="Noto Sans" charset="0"/>
                      </a:endParaRPr>
                    </a:p>
                  </a:txBody>
                  <a:tcPr marL="126628" marR="126628" marT="6350" marB="6350" anchor="ctr">
                    <a:lnL w="12700" cap="flat" cmpd="sng" algn="ctr">
                      <a:solidFill>
                        <a:srgbClr val="434346"/>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c>
                  <a:txBody>
                    <a:bodyPr/>
                    <a:lstStyle/>
                    <a:p>
                      <a:pPr indent="0" marL="0">
                        <a:buNone/>
                      </a:pPr>
                      <a:r>
                        <a:rPr lang="en-US" sz="950" b="1" dirty="0">
                          <a:solidFill>
                            <a:srgbClr val="E0D6DE"/>
                          </a:solidFill>
                          <a:latin typeface="Noto Sans" pitchFamily="34" charset="0"/>
                          <a:ea typeface="Noto Sans" pitchFamily="34" charset="-122"/>
                          <a:cs typeface="Noto Sans" pitchFamily="34" charset="-120"/>
                        </a:rPr>
                        <a:t>Accuracy</a:t>
                      </a:r>
                      <a:endParaRPr lang="en-US" sz="950" dirty="0">
                        <a:latin typeface="Noto Sans" charset="0"/>
                        <a:ea typeface="Noto Sans" charset="0"/>
                        <a:cs typeface="Noto Sans" charset="0"/>
                      </a:endParaRPr>
                    </a:p>
                  </a:txBody>
                  <a:tcPr marL="126628" marR="126628" marT="6350" marB="6350" anchor="ctr">
                    <a:lnL w="12700" cap="flat" cmpd="sng" algn="ctr">
                      <a:solidFill>
                        <a:srgbClr val="07070C"/>
                      </a:solidFill>
                      <a:prstDash val="solid"/>
                      <a:round/>
                      <a:headEnd type="none" w="med" len="med"/>
                      <a:tailEnd type="none" w="med" len="med"/>
                    </a:lnL>
                    <a:lnR w="12700" cap="flat" cmpd="sng" algn="ctr">
                      <a:solidFill>
                        <a:srgbClr val="434346"/>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r>
              <a:tr h="314119">
                <a:tc>
                  <a:txBody>
                    <a:bodyPr/>
                    <a:lstStyle/>
                    <a:p>
                      <a:pPr indent="0" marL="0">
                        <a:buNone/>
                      </a:pPr>
                      <a:r>
                        <a:rPr lang="en-US" sz="950" dirty="0">
                          <a:solidFill>
                            <a:srgbClr val="E0D6DE"/>
                          </a:solidFill>
                          <a:latin typeface="Noto Sans" pitchFamily="34" charset="0"/>
                          <a:ea typeface="Noto Sans" pitchFamily="34" charset="-122"/>
                          <a:cs typeface="Noto Sans" pitchFamily="34" charset="-120"/>
                        </a:rPr>
                        <a:t>Suffixation (Inflectional)</a:t>
                      </a:r>
                      <a:endParaRPr lang="en-US" sz="950" dirty="0">
                        <a:latin typeface="Noto Sans" charset="0"/>
                        <a:ea typeface="Noto Sans" charset="0"/>
                        <a:cs typeface="Noto Sans" charset="0"/>
                      </a:endParaRPr>
                    </a:p>
                  </a:txBody>
                  <a:tcPr marL="126628" marR="126628" marT="6350" marB="6350" anchor="ctr">
                    <a:lnL w="12700" cap="flat" cmpd="sng" algn="ctr">
                      <a:solidFill>
                        <a:srgbClr val="434346"/>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c>
                  <a:txBody>
                    <a:bodyPr/>
                    <a:lstStyle/>
                    <a:p>
                      <a:pPr indent="0" marL="0">
                        <a:buNone/>
                      </a:pPr>
                      <a:r>
                        <a:rPr lang="en-US" sz="950" b="1" dirty="0">
                          <a:solidFill>
                            <a:srgbClr val="97B8FF"/>
                          </a:solidFill>
                          <a:latin typeface="Noto Sans" pitchFamily="34" charset="0"/>
                          <a:ea typeface="Noto Sans" pitchFamily="34" charset="-122"/>
                          <a:cs typeface="Noto Sans" pitchFamily="34" charset="-120"/>
                        </a:rPr>
                        <a:t>93%</a:t>
                      </a:r>
                      <a:endParaRPr lang="en-US" sz="950" dirty="0">
                        <a:latin typeface="Noto Sans" charset="0"/>
                        <a:ea typeface="Noto Sans" charset="0"/>
                        <a:cs typeface="Noto Sans" charset="0"/>
                      </a:endParaRPr>
                    </a:p>
                  </a:txBody>
                  <a:tcPr marL="126628" marR="126628" marT="6350" marB="6350" anchor="ctr">
                    <a:lnL w="12700" cap="flat" cmpd="sng" algn="ctr">
                      <a:solidFill>
                        <a:srgbClr val="07070C"/>
                      </a:solidFill>
                      <a:prstDash val="solid"/>
                      <a:round/>
                      <a:headEnd type="none" w="med" len="med"/>
                      <a:tailEnd type="none" w="med" len="med"/>
                    </a:lnL>
                    <a:lnR w="12700" cap="flat" cmpd="sng" algn="ctr">
                      <a:solidFill>
                        <a:srgbClr val="434346"/>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r>
              <a:tr h="314119">
                <a:tc>
                  <a:txBody>
                    <a:bodyPr/>
                    <a:lstStyle/>
                    <a:p>
                      <a:pPr indent="0" marL="0">
                        <a:buNone/>
                      </a:pPr>
                      <a:r>
                        <a:rPr lang="en-US" sz="950" dirty="0">
                          <a:solidFill>
                            <a:srgbClr val="E0D6DE"/>
                          </a:solidFill>
                          <a:latin typeface="Noto Sans" pitchFamily="34" charset="0"/>
                          <a:ea typeface="Noto Sans" pitchFamily="34" charset="-122"/>
                          <a:cs typeface="Noto Sans" pitchFamily="34" charset="-120"/>
                        </a:rPr>
                        <a:t>Suffixation (Derivational)</a:t>
                      </a:r>
                      <a:endParaRPr lang="en-US" sz="950" dirty="0">
                        <a:latin typeface="Noto Sans" charset="0"/>
                        <a:ea typeface="Noto Sans" charset="0"/>
                        <a:cs typeface="Noto Sans" charset="0"/>
                      </a:endParaRPr>
                    </a:p>
                  </a:txBody>
                  <a:tcPr marL="126628" marR="126628" marT="6350" marB="6350" anchor="ctr">
                    <a:lnL w="12700" cap="flat" cmpd="sng" algn="ctr">
                      <a:solidFill>
                        <a:srgbClr val="434346"/>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c>
                  <a:txBody>
                    <a:bodyPr/>
                    <a:lstStyle/>
                    <a:p>
                      <a:pPr indent="0" marL="0">
                        <a:buNone/>
                      </a:pPr>
                      <a:r>
                        <a:rPr lang="en-US" sz="950" dirty="0">
                          <a:solidFill>
                            <a:srgbClr val="E0D6DE"/>
                          </a:solidFill>
                          <a:latin typeface="Noto Sans" pitchFamily="34" charset="0"/>
                          <a:ea typeface="Noto Sans" pitchFamily="34" charset="-122"/>
                          <a:cs typeface="Noto Sans" pitchFamily="34" charset="-120"/>
                        </a:rPr>
                        <a:t>84%</a:t>
                      </a:r>
                      <a:endParaRPr lang="en-US" sz="950" dirty="0">
                        <a:latin typeface="Noto Sans" charset="0"/>
                        <a:ea typeface="Noto Sans" charset="0"/>
                        <a:cs typeface="Noto Sans" charset="0"/>
                      </a:endParaRPr>
                    </a:p>
                  </a:txBody>
                  <a:tcPr marL="126628" marR="126628" marT="6350" marB="6350" anchor="ctr">
                    <a:lnL w="12700" cap="flat" cmpd="sng" algn="ctr">
                      <a:solidFill>
                        <a:srgbClr val="07070C"/>
                      </a:solidFill>
                      <a:prstDash val="solid"/>
                      <a:round/>
                      <a:headEnd type="none" w="med" len="med"/>
                      <a:tailEnd type="none" w="med" len="med"/>
                    </a:lnL>
                    <a:lnR w="12700" cap="flat" cmpd="sng" algn="ctr">
                      <a:solidFill>
                        <a:srgbClr val="434346"/>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r>
              <a:tr h="314119">
                <a:tc>
                  <a:txBody>
                    <a:bodyPr/>
                    <a:lstStyle/>
                    <a:p>
                      <a:pPr indent="0" marL="0">
                        <a:buNone/>
                      </a:pPr>
                      <a:r>
                        <a:rPr lang="en-US" sz="950" dirty="0">
                          <a:solidFill>
                            <a:srgbClr val="E0D6DE"/>
                          </a:solidFill>
                          <a:latin typeface="Noto Sans" pitchFamily="34" charset="0"/>
                          <a:ea typeface="Noto Sans" pitchFamily="34" charset="-122"/>
                          <a:cs typeface="Noto Sans" pitchFamily="34" charset="-120"/>
                        </a:rPr>
                        <a:t>Prefixation</a:t>
                      </a:r>
                      <a:endParaRPr lang="en-US" sz="950" dirty="0">
                        <a:latin typeface="Noto Sans" charset="0"/>
                        <a:ea typeface="Noto Sans" charset="0"/>
                        <a:cs typeface="Noto Sans" charset="0"/>
                      </a:endParaRPr>
                    </a:p>
                  </a:txBody>
                  <a:tcPr marL="126628" marR="126628" marT="6350" marB="6350" anchor="ctr">
                    <a:lnL w="12700" cap="flat" cmpd="sng" algn="ctr">
                      <a:solidFill>
                        <a:srgbClr val="434346"/>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c>
                  <a:txBody>
                    <a:bodyPr/>
                    <a:lstStyle/>
                    <a:p>
                      <a:pPr indent="0" marL="0">
                        <a:buNone/>
                      </a:pPr>
                      <a:r>
                        <a:rPr lang="en-US" sz="950" dirty="0">
                          <a:solidFill>
                            <a:srgbClr val="E0D6DE"/>
                          </a:solidFill>
                          <a:latin typeface="Noto Sans" pitchFamily="34" charset="0"/>
                          <a:ea typeface="Noto Sans" pitchFamily="34" charset="-122"/>
                          <a:cs typeface="Noto Sans" pitchFamily="34" charset="-120"/>
                        </a:rPr>
                        <a:t>79%</a:t>
                      </a:r>
                      <a:endParaRPr lang="en-US" sz="950" dirty="0">
                        <a:latin typeface="Noto Sans" charset="0"/>
                        <a:ea typeface="Noto Sans" charset="0"/>
                        <a:cs typeface="Noto Sans" charset="0"/>
                      </a:endParaRPr>
                    </a:p>
                  </a:txBody>
                  <a:tcPr marL="126628" marR="126628" marT="6350" marB="6350" anchor="ctr">
                    <a:lnL w="12700" cap="flat" cmpd="sng" algn="ctr">
                      <a:solidFill>
                        <a:srgbClr val="07070C"/>
                      </a:solidFill>
                      <a:prstDash val="solid"/>
                      <a:round/>
                      <a:headEnd type="none" w="med" len="med"/>
                      <a:tailEnd type="none" w="med" len="med"/>
                    </a:lnL>
                    <a:lnR w="12700" cap="flat" cmpd="sng" algn="ctr">
                      <a:solidFill>
                        <a:srgbClr val="434346"/>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r>
              <a:tr h="314119">
                <a:tc>
                  <a:txBody>
                    <a:bodyPr/>
                    <a:lstStyle/>
                    <a:p>
                      <a:pPr indent="0" marL="0">
                        <a:buNone/>
                      </a:pPr>
                      <a:r>
                        <a:rPr lang="en-US" sz="950" dirty="0">
                          <a:solidFill>
                            <a:srgbClr val="E0D6DE"/>
                          </a:solidFill>
                          <a:latin typeface="Noto Sans" pitchFamily="34" charset="0"/>
                          <a:ea typeface="Noto Sans" pitchFamily="34" charset="-122"/>
                          <a:cs typeface="Noto Sans" pitchFamily="34" charset="-120"/>
                        </a:rPr>
                        <a:t>Compounding</a:t>
                      </a:r>
                      <a:endParaRPr lang="en-US" sz="950" dirty="0">
                        <a:latin typeface="Noto Sans" charset="0"/>
                        <a:ea typeface="Noto Sans" charset="0"/>
                        <a:cs typeface="Noto Sans" charset="0"/>
                      </a:endParaRPr>
                    </a:p>
                  </a:txBody>
                  <a:tcPr marL="126628" marR="126628" marT="6350" marB="6350" anchor="ctr">
                    <a:lnL w="12700" cap="flat" cmpd="sng" algn="ctr">
                      <a:solidFill>
                        <a:srgbClr val="434346"/>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c>
                  <a:txBody>
                    <a:bodyPr/>
                    <a:lstStyle/>
                    <a:p>
                      <a:pPr indent="0" marL="0">
                        <a:buNone/>
                      </a:pPr>
                      <a:r>
                        <a:rPr lang="en-US" sz="950" dirty="0">
                          <a:solidFill>
                            <a:srgbClr val="E0D6DE"/>
                          </a:solidFill>
                          <a:latin typeface="Noto Sans" pitchFamily="34" charset="0"/>
                          <a:ea typeface="Noto Sans" pitchFamily="34" charset="-122"/>
                          <a:cs typeface="Noto Sans" pitchFamily="34" charset="-120"/>
                        </a:rPr>
                        <a:t>74%</a:t>
                      </a:r>
                      <a:endParaRPr lang="en-US" sz="950" dirty="0">
                        <a:latin typeface="Noto Sans" charset="0"/>
                        <a:ea typeface="Noto Sans" charset="0"/>
                        <a:cs typeface="Noto Sans" charset="0"/>
                      </a:endParaRPr>
                    </a:p>
                  </a:txBody>
                  <a:tcPr marL="126628" marR="126628" marT="6350" marB="6350" anchor="ctr">
                    <a:lnL w="12700" cap="flat" cmpd="sng" algn="ctr">
                      <a:solidFill>
                        <a:srgbClr val="07070C"/>
                      </a:solidFill>
                      <a:prstDash val="solid"/>
                      <a:round/>
                      <a:headEnd type="none" w="med" len="med"/>
                      <a:tailEnd type="none" w="med" len="med"/>
                    </a:lnL>
                    <a:lnR w="12700" cap="flat" cmpd="sng" algn="ctr">
                      <a:solidFill>
                        <a:srgbClr val="434346"/>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r>
              <a:tr h="310944">
                <a:tc>
                  <a:txBody>
                    <a:bodyPr/>
                    <a:lstStyle/>
                    <a:p>
                      <a:pPr indent="0" marL="0">
                        <a:buNone/>
                      </a:pPr>
                      <a:r>
                        <a:rPr lang="en-US" sz="950" dirty="0">
                          <a:solidFill>
                            <a:srgbClr val="E0D6DE"/>
                          </a:solidFill>
                          <a:latin typeface="Noto Sans" pitchFamily="34" charset="0"/>
                          <a:ea typeface="Noto Sans" pitchFamily="34" charset="-122"/>
                          <a:cs typeface="Noto Sans" pitchFamily="34" charset="-120"/>
                        </a:rPr>
                        <a:t>Zero-Derivation</a:t>
                      </a:r>
                      <a:endParaRPr lang="en-US" sz="950" dirty="0">
                        <a:latin typeface="Noto Sans" charset="0"/>
                        <a:ea typeface="Noto Sans" charset="0"/>
                        <a:cs typeface="Noto Sans" charset="0"/>
                      </a:endParaRPr>
                    </a:p>
                  </a:txBody>
                  <a:tcPr marL="126628" marR="126628" marT="6350" marB="6350" anchor="ctr">
                    <a:lnL w="12700" cap="flat" cmpd="sng" algn="ctr">
                      <a:solidFill>
                        <a:srgbClr val="434346"/>
                      </a:solidFill>
                      <a:prstDash val="solid"/>
                      <a:round/>
                      <a:headEnd type="none" w="med" len="med"/>
                      <a:tailEnd type="none" w="med" len="med"/>
                    </a:lnL>
                    <a:lnR w="12700" cap="flat" cmpd="sng" algn="ctr">
                      <a:solidFill>
                        <a:srgbClr val="07070C"/>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c>
                  <a:txBody>
                    <a:bodyPr/>
                    <a:lstStyle/>
                    <a:p>
                      <a:pPr indent="0" marL="0">
                        <a:buNone/>
                      </a:pPr>
                      <a:r>
                        <a:rPr lang="en-US" sz="950" dirty="0">
                          <a:solidFill>
                            <a:srgbClr val="7AF0FF"/>
                          </a:solidFill>
                          <a:latin typeface="Noto Sans" pitchFamily="34" charset="0"/>
                          <a:ea typeface="Noto Sans" pitchFamily="34" charset="-122"/>
                          <a:cs typeface="Noto Sans" pitchFamily="34" charset="-120"/>
                        </a:rPr>
                        <a:t>68%</a:t>
                      </a:r>
                      <a:endParaRPr lang="en-US" sz="950" dirty="0">
                        <a:latin typeface="Noto Sans" charset="0"/>
                        <a:ea typeface="Noto Sans" charset="0"/>
                        <a:cs typeface="Noto Sans" charset="0"/>
                      </a:endParaRPr>
                    </a:p>
                  </a:txBody>
                  <a:tcPr marL="126628" marR="126628" marT="6350" marB="6350" anchor="ctr">
                    <a:lnL w="12700" cap="flat" cmpd="sng" algn="ctr">
                      <a:solidFill>
                        <a:srgbClr val="07070C"/>
                      </a:solidFill>
                      <a:prstDash val="solid"/>
                      <a:round/>
                      <a:headEnd type="none" w="med" len="med"/>
                      <a:tailEnd type="none" w="med" len="med"/>
                    </a:lnL>
                    <a:lnR w="12700" cap="flat" cmpd="sng" algn="ctr">
                      <a:solidFill>
                        <a:srgbClr val="434346"/>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r>
            </a:tbl>
          </a:graphicData>
        </a:graphic>
      </p:graphicFrame>
      <p:sp>
        <p:nvSpPr>
          <p:cNvPr id="8" name="Text 3"/>
          <p:cNvSpPr/>
          <p:nvPr/>
        </p:nvSpPr>
        <p:spPr>
          <a:xfrm>
            <a:off x="661475" y="6018014"/>
            <a:ext cx="10868745" cy="357584"/>
          </a:xfrm>
          <a:prstGeom prst="rect">
            <a:avLst/>
          </a:prstGeom>
          <a:noFill/>
          <a:ln/>
        </p:spPr>
        <p:txBody>
          <a:bodyPr wrap="square" lIns="0" tIns="0" rIns="0" bIns="0" rtlCol="0" anchor="t">
            <a:normAutofit/>
          </a:bodyPr>
          <a:lstStyle/>
          <a:p>
            <a:pPr algn="l" indent="0" marL="0">
              <a:lnSpc>
                <a:spcPct val="118000"/>
              </a:lnSpc>
              <a:buNone/>
            </a:pPr>
            <a:r>
              <a:rPr lang="en-US" sz="950" dirty="0">
                <a:solidFill>
                  <a:srgbClr val="E0D6DE"/>
                </a:solidFill>
                <a:latin typeface="Noto Sans" pitchFamily="34" charset="0"/>
                <a:ea typeface="Noto Sans" pitchFamily="34" charset="-122"/>
                <a:cs typeface="Noto Sans" pitchFamily="34" charset="-120"/>
              </a:rPr>
              <a:t>Zero-derivation — where no overt affix is added — presents the greatest challenge for rule-based systems, as there is no surface-level morphological signal to trigger parsing rules. Compounding similarly resists simple affix-matching approaches.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686792"/>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97B8FF"/>
                </a:solidFill>
                <a:latin typeface="Sora Medium" pitchFamily="34" charset="0"/>
                <a:ea typeface="Sora Medium" pitchFamily="34" charset="-122"/>
                <a:cs typeface="Sora Medium" pitchFamily="34" charset="-120"/>
              </a:rPr>
              <a:t>Statistical Hypothesis Testing</a:t>
            </a:r>
            <a:endParaRPr lang="en-US" sz="3250" dirty="0"/>
          </a:p>
        </p:txBody>
      </p:sp>
      <p:sp>
        <p:nvSpPr>
          <p:cNvPr id="3" name="Shape 1"/>
          <p:cNvSpPr/>
          <p:nvPr/>
        </p:nvSpPr>
        <p:spPr>
          <a:xfrm>
            <a:off x="542415" y="1451570"/>
            <a:ext cx="5470785" cy="4719638"/>
          </a:xfrm>
          <a:prstGeom prst="roundRect">
            <a:avLst>
              <a:gd name="adj" fmla="val 526"/>
            </a:avLst>
          </a:prstGeom>
          <a:solidFill>
            <a:srgbClr val="120336"/>
          </a:solidFill>
          <a:ln/>
        </p:spPr>
      </p:sp>
      <p:sp>
        <p:nvSpPr>
          <p:cNvPr id="4" name="Text 2"/>
          <p:cNvSpPr/>
          <p:nvPr/>
        </p:nvSpPr>
        <p:spPr>
          <a:xfrm>
            <a:off x="707710" y="1616869"/>
            <a:ext cx="5140196" cy="258465"/>
          </a:xfrm>
          <a:prstGeom prst="rect">
            <a:avLst/>
          </a:prstGeom>
          <a:noFill/>
          <a:ln/>
        </p:spPr>
        <p:txBody>
          <a:bodyPr wrap="none" lIns="0" tIns="0" rIns="0" bIns="0" rtlCol="0" anchor="t"/>
          <a:lstStyle/>
          <a:p>
            <a:pPr algn="l" indent="0" marL="0">
              <a:lnSpc>
                <a:spcPct val="104000"/>
              </a:lnSpc>
              <a:buNone/>
            </a:pPr>
            <a:r>
              <a:rPr lang="en-US" sz="1600" dirty="0">
                <a:solidFill>
                  <a:srgbClr val="97B8FF"/>
                </a:solidFill>
                <a:latin typeface="Sora Medium" pitchFamily="34" charset="0"/>
                <a:ea typeface="Sora Medium" pitchFamily="34" charset="-122"/>
                <a:cs typeface="Sora Medium" pitchFamily="34" charset="-120"/>
              </a:rPr>
              <a:t>Hypotheses</a:t>
            </a:r>
            <a:endParaRPr lang="en-US" sz="1600" dirty="0"/>
          </a:p>
        </p:txBody>
      </p:sp>
      <p:sp>
        <p:nvSpPr>
          <p:cNvPr id="5" name="Text 3"/>
          <p:cNvSpPr/>
          <p:nvPr/>
        </p:nvSpPr>
        <p:spPr>
          <a:xfrm>
            <a:off x="707710" y="2040632"/>
            <a:ext cx="5140196" cy="1736527"/>
          </a:xfrm>
          <a:prstGeom prst="rect">
            <a:avLst/>
          </a:prstGeom>
          <a:noFill/>
          <a:ln/>
        </p:spPr>
        <p:txBody>
          <a:bodyPr wrap="square" lIns="0" tIns="0" rIns="0" bIns="0" rtlCol="0" anchor="t">
            <a:normAutofit/>
          </a:bodyPr>
          <a:lstStyle/>
          <a:p>
            <a:pPr algn="l" indent="0" marL="0">
              <a:lnSpc>
                <a:spcPct val="133000"/>
              </a:lnSpc>
              <a:spcAft>
                <a:spcPts val="1150"/>
              </a:spcAft>
              <a:buNone/>
            </a:pPr>
            <a:r>
              <a:rPr lang="en-US" sz="1300" b="1" dirty="0">
                <a:solidFill>
                  <a:srgbClr val="E0D6DE"/>
                </a:solidFill>
                <a:latin typeface="Noto Sans Bold" pitchFamily="34" charset="0"/>
                <a:ea typeface="Noto Sans Bold" pitchFamily="34" charset="-122"/>
                <a:cs typeface="Noto Sans Bold" pitchFamily="34" charset="-120"/>
              </a:rPr>
              <a:t>Null Hypothesis (H₀):</a:t>
            </a:r>
            <a:pPr algn="l" indent="0" marL="0">
              <a:lnSpc>
                <a:spcPct val="133000"/>
              </a:lnSpc>
              <a:spcAft>
                <a:spcPts val="1150"/>
              </a:spcAft>
              <a:buNone/>
            </a:pPr>
            <a:r>
              <a:rPr lang="en-US" sz="1300" dirty="0">
                <a:solidFill>
                  <a:srgbClr val="E0D6DE"/>
                </a:solidFill>
                <a:latin typeface="Noto Sans" pitchFamily="34" charset="0"/>
                <a:ea typeface="Noto Sans" pitchFamily="34" charset="-122"/>
                <a:cs typeface="Noto Sans" pitchFamily="34" charset="-120"/>
              </a:rPr>
              <a:t> There is no statistically significant difference in rule-based parsing accuracy between inflectional and derivational word forms.</a:t>
            </a:r>
            <a:endParaRPr lang="en-US" sz="1300" dirty="0"/>
          </a:p>
          <a:p>
            <a:pPr algn="l" indent="0" marL="0">
              <a:lnSpc>
                <a:spcPct val="133000"/>
              </a:lnSpc>
              <a:buNone/>
            </a:pPr>
            <a:r>
              <a:rPr lang="en-US" sz="1300" b="1" dirty="0">
                <a:solidFill>
                  <a:srgbClr val="E0D6DE"/>
                </a:solidFill>
                <a:latin typeface="Noto Sans Bold" pitchFamily="34" charset="0"/>
                <a:ea typeface="Noto Sans Bold" pitchFamily="34" charset="-122"/>
                <a:cs typeface="Noto Sans Bold" pitchFamily="34" charset="-120"/>
              </a:rPr>
              <a:t>Alternative Hypothesis (H₁):</a:t>
            </a:r>
            <a:pPr algn="l" indent="0" marL="0">
              <a:lnSpc>
                <a:spcPct val="133000"/>
              </a:lnSpc>
              <a:buNone/>
            </a:pPr>
            <a:r>
              <a:rPr lang="en-US" sz="1300" dirty="0">
                <a:solidFill>
                  <a:srgbClr val="E0D6DE"/>
                </a:solidFill>
                <a:latin typeface="Noto Sans" pitchFamily="34" charset="0"/>
                <a:ea typeface="Noto Sans" pitchFamily="34" charset="-122"/>
                <a:cs typeface="Noto Sans" pitchFamily="34" charset="-120"/>
              </a:rPr>
              <a:t> There is a statistically significant difference in rule-based parsing accuracy between inflectional and derivational word forms.</a:t>
            </a:r>
            <a:endParaRPr lang="en-US" sz="1300" dirty="0"/>
          </a:p>
        </p:txBody>
      </p:sp>
      <p:sp>
        <p:nvSpPr>
          <p:cNvPr id="6" name="Shape 4"/>
          <p:cNvSpPr/>
          <p:nvPr/>
        </p:nvSpPr>
        <p:spPr>
          <a:xfrm>
            <a:off x="707710" y="4004469"/>
            <a:ext cx="5140196" cy="19050"/>
          </a:xfrm>
          <a:prstGeom prst="roundRect">
            <a:avLst>
              <a:gd name="adj" fmla="val 49999"/>
            </a:avLst>
          </a:prstGeom>
          <a:solidFill>
            <a:srgbClr val="E0D6DE">
              <a:alpha val="50000"/>
            </a:srgbClr>
          </a:solidFill>
          <a:ln/>
        </p:spPr>
      </p:sp>
      <p:sp>
        <p:nvSpPr>
          <p:cNvPr id="7" name="Text 5"/>
          <p:cNvSpPr/>
          <p:nvPr/>
        </p:nvSpPr>
        <p:spPr>
          <a:xfrm>
            <a:off x="707710" y="4250829"/>
            <a:ext cx="5140196" cy="258465"/>
          </a:xfrm>
          <a:prstGeom prst="rect">
            <a:avLst/>
          </a:prstGeom>
          <a:noFill/>
          <a:ln/>
        </p:spPr>
        <p:txBody>
          <a:bodyPr wrap="none" lIns="0" tIns="0" rIns="0" bIns="0" rtlCol="0" anchor="t"/>
          <a:lstStyle/>
          <a:p>
            <a:pPr algn="l" indent="0" marL="0">
              <a:lnSpc>
                <a:spcPct val="104000"/>
              </a:lnSpc>
              <a:buNone/>
            </a:pPr>
            <a:r>
              <a:rPr lang="en-US" sz="1600" dirty="0">
                <a:solidFill>
                  <a:srgbClr val="97B8FF"/>
                </a:solidFill>
                <a:latin typeface="Sora Medium" pitchFamily="34" charset="0"/>
                <a:ea typeface="Sora Medium" pitchFamily="34" charset="-122"/>
                <a:cs typeface="Sora Medium" pitchFamily="34" charset="-120"/>
              </a:rPr>
              <a:t>Test Parameters</a:t>
            </a:r>
            <a:endParaRPr lang="en-US" sz="1600" dirty="0"/>
          </a:p>
        </p:txBody>
      </p:sp>
      <p:sp>
        <p:nvSpPr>
          <p:cNvPr id="8" name="Text 6"/>
          <p:cNvSpPr/>
          <p:nvPr/>
        </p:nvSpPr>
        <p:spPr>
          <a:xfrm>
            <a:off x="707710" y="4674592"/>
            <a:ext cx="5140196" cy="1438771"/>
          </a:xfrm>
          <a:prstGeom prst="rect">
            <a:avLst/>
          </a:prstGeom>
          <a:noFill/>
          <a:ln/>
        </p:spPr>
        <p:txBody>
          <a:bodyPr wrap="square" lIns="0" tIns="66156" rIns="0" bIns="0" rtlCol="0" anchor="t">
            <a:normAutofit/>
          </a:bodyPr>
          <a:lstStyle/>
          <a:p>
            <a:pPr algn="l" marL="264160" indent="-264160">
              <a:lnSpc>
                <a:spcPct val="133000"/>
              </a:lnSpc>
              <a:buSzPct val="100000"/>
              <a:buChar char="•"/>
            </a:pPr>
            <a:r>
              <a:rPr lang="en-US" sz="1300" b="1" dirty="0">
                <a:solidFill>
                  <a:srgbClr val="E0D6DE"/>
                </a:solidFill>
                <a:latin typeface="Noto Sans Bold" pitchFamily="34" charset="0"/>
                <a:ea typeface="Noto Sans Bold" pitchFamily="34" charset="-122"/>
                <a:cs typeface="Noto Sans Bold" pitchFamily="34" charset="-120"/>
              </a:rPr>
              <a:t>Significance Level:</a:t>
            </a:r>
            <a:pPr algn="l" marL="264160" indent="-264160">
              <a:lnSpc>
                <a:spcPct val="133000"/>
              </a:lnSpc>
              <a:buSzPct val="100000"/>
              <a:buChar char="•"/>
            </a:pPr>
            <a:r>
              <a:rPr lang="en-US" sz="1300" dirty="0">
                <a:solidFill>
                  <a:srgbClr val="E0D6DE"/>
                </a:solidFill>
                <a:latin typeface="Noto Sans" pitchFamily="34" charset="0"/>
                <a:ea typeface="Noto Sans" pitchFamily="34" charset="-122"/>
                <a:cs typeface="Noto Sans" pitchFamily="34" charset="-120"/>
              </a:rPr>
              <a:t> α = 0.05</a:t>
            </a:r>
            <a:endParaRPr lang="en-US" sz="1300" dirty="0"/>
          </a:p>
          <a:p>
            <a:pPr algn="l" marL="264160" indent="-264160">
              <a:lnSpc>
                <a:spcPct val="133000"/>
              </a:lnSpc>
              <a:buSzPct val="100000"/>
              <a:buChar char="•"/>
            </a:pPr>
            <a:r>
              <a:rPr lang="en-US" sz="1300" b="1" dirty="0">
                <a:solidFill>
                  <a:srgbClr val="E0D6DE"/>
                </a:solidFill>
                <a:latin typeface="Noto Sans Bold" pitchFamily="34" charset="0"/>
                <a:ea typeface="Noto Sans Bold" pitchFamily="34" charset="-122"/>
                <a:cs typeface="Noto Sans Bold" pitchFamily="34" charset="-120"/>
              </a:rPr>
              <a:t>Test Used:</a:t>
            </a:r>
            <a:pPr algn="l" marL="264160" indent="-264160">
              <a:lnSpc>
                <a:spcPct val="133000"/>
              </a:lnSpc>
              <a:buSzPct val="100000"/>
              <a:buChar char="•"/>
            </a:pPr>
            <a:r>
              <a:rPr lang="en-US" sz="1300" dirty="0">
                <a:solidFill>
                  <a:srgbClr val="E0D6DE"/>
                </a:solidFill>
                <a:latin typeface="Noto Sans" pitchFamily="34" charset="0"/>
                <a:ea typeface="Noto Sans" pitchFamily="34" charset="-122"/>
                <a:cs typeface="Noto Sans" pitchFamily="34" charset="-120"/>
              </a:rPr>
              <a:t> Chi-square test of independence</a:t>
            </a:r>
            <a:endParaRPr lang="en-US" sz="1300" dirty="0"/>
          </a:p>
          <a:p>
            <a:pPr algn="l" marL="264160" indent="-264160">
              <a:lnSpc>
                <a:spcPct val="133000"/>
              </a:lnSpc>
              <a:buSzPct val="100000"/>
              <a:buChar char="•"/>
            </a:pPr>
            <a:r>
              <a:rPr lang="en-US" sz="1300" b="1" dirty="0">
                <a:solidFill>
                  <a:srgbClr val="E0D6DE"/>
                </a:solidFill>
                <a:latin typeface="Noto Sans Bold" pitchFamily="34" charset="0"/>
                <a:ea typeface="Noto Sans Bold" pitchFamily="34" charset="-122"/>
                <a:cs typeface="Noto Sans Bold" pitchFamily="34" charset="-120"/>
              </a:rPr>
              <a:t>Rationale:</a:t>
            </a:r>
            <a:pPr algn="l" marL="264160" indent="-264160">
              <a:lnSpc>
                <a:spcPct val="133000"/>
              </a:lnSpc>
              <a:buSzPct val="100000"/>
              <a:buChar char="•"/>
            </a:pPr>
            <a:r>
              <a:rPr lang="en-US" sz="1300" dirty="0">
                <a:solidFill>
                  <a:srgbClr val="E0D6DE"/>
                </a:solidFill>
                <a:latin typeface="Noto Sans" pitchFamily="34" charset="0"/>
                <a:ea typeface="Noto Sans" pitchFamily="34" charset="-122"/>
                <a:cs typeface="Noto Sans" pitchFamily="34" charset="-120"/>
              </a:rPr>
              <a:t> Comparing two categorical outcomes (correct/incorrect) across two independent groups (inflectional/derivational)</a:t>
            </a:r>
            <a:endParaRPr lang="en-US" sz="1300" dirty="0"/>
          </a:p>
        </p:txBody>
      </p:sp>
      <p:sp>
        <p:nvSpPr>
          <p:cNvPr id="9" name="Text 7"/>
          <p:cNvSpPr/>
          <p:nvPr/>
        </p:nvSpPr>
        <p:spPr>
          <a:xfrm>
            <a:off x="6303904" y="1616869"/>
            <a:ext cx="5232666" cy="258465"/>
          </a:xfrm>
          <a:prstGeom prst="rect">
            <a:avLst/>
          </a:prstGeom>
          <a:noFill/>
          <a:ln/>
        </p:spPr>
        <p:txBody>
          <a:bodyPr wrap="none" lIns="0" tIns="0" rIns="0" bIns="0" rtlCol="0" anchor="t"/>
          <a:lstStyle/>
          <a:p>
            <a:pPr algn="l" indent="0" marL="0">
              <a:lnSpc>
                <a:spcPct val="104000"/>
              </a:lnSpc>
              <a:buNone/>
            </a:pPr>
            <a:r>
              <a:rPr lang="en-US" sz="1600" dirty="0">
                <a:solidFill>
                  <a:srgbClr val="97B8FF"/>
                </a:solidFill>
                <a:latin typeface="Sora Medium" pitchFamily="34" charset="0"/>
                <a:ea typeface="Sora Medium" pitchFamily="34" charset="-122"/>
                <a:cs typeface="Sora Medium" pitchFamily="34" charset="-120"/>
              </a:rPr>
              <a:t>Contingency Table</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303904" y="2061369"/>
          <a:ext cx="9143771" cy="914400"/>
        </p:xfrm>
        <a:graphic>
          <a:graphicData uri="http://schemas.openxmlformats.org/drawingml/2006/table">
            <a:tbl>
              <a:tblPr/>
              <a:tblGrid>
                <a:gridCol w="1308167"/>
                <a:gridCol w="1308167"/>
                <a:gridCol w="1308167"/>
                <a:gridCol w="1308167"/>
              </a:tblGrid>
              <a:tr h="478917">
                <a:tc>
                  <a:txBody>
                    <a:bodyPr/>
                    <a:lstStyle/>
                    <a:p>
                      <a:pPr indent="0" marL="0">
                        <a:buNone/>
                      </a:pPr>
                      <a:r>
                        <a:rPr lang="en-US" sz="1300" b="1" dirty="0">
                          <a:solidFill>
                            <a:srgbClr val="E0D6DE"/>
                          </a:solidFill>
                          <a:latin typeface="Noto Sans" pitchFamily="34" charset="0"/>
                          <a:ea typeface="Noto Sans" pitchFamily="34" charset="-122"/>
                          <a:cs typeface="Noto Sans" pitchFamily="34" charset="-120"/>
                        </a:rPr>
                        <a:t>Category</a:t>
                      </a:r>
                      <a:endParaRPr lang="en-US" sz="1300" dirty="0">
                        <a:latin typeface="Noto Sans" charset="0"/>
                        <a:ea typeface="Noto Sans" charset="0"/>
                        <a:cs typeface="Noto Sans" charset="0"/>
                      </a:endParaRPr>
                    </a:p>
                  </a:txBody>
                  <a:tcPr marL="165391" marR="165391" marT="6350" marB="6350" anchor="ctr">
                    <a:lnL w="12700" cap="flat" cmpd="sng" algn="ctr">
                      <a:solidFill>
                        <a:srgbClr val="434346"/>
                      </a:solidFill>
                      <a:prstDash val="solid"/>
                      <a:round/>
                      <a:headEnd type="none" w="med" len="med"/>
                      <a:tailEnd type="none" w="med" len="med"/>
                    </a:lnL>
                    <a:lnR w="12700" cap="flat" cmpd="sng" algn="ctr">
                      <a:solidFill>
                        <a:srgbClr val="434346"/>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c>
                  <a:txBody>
                    <a:bodyPr/>
                    <a:lstStyle/>
                    <a:p>
                      <a:pPr indent="0" marL="0">
                        <a:buNone/>
                      </a:pPr>
                      <a:r>
                        <a:rPr lang="en-US" sz="1300" b="1" dirty="0">
                          <a:solidFill>
                            <a:srgbClr val="E0D6DE"/>
                          </a:solidFill>
                          <a:latin typeface="Noto Sans" pitchFamily="34" charset="0"/>
                          <a:ea typeface="Noto Sans" pitchFamily="34" charset="-122"/>
                          <a:cs typeface="Noto Sans" pitchFamily="34" charset="-120"/>
                        </a:rPr>
                        <a:t>Correct</a:t>
                      </a:r>
                      <a:endParaRPr lang="en-US" sz="1300" dirty="0">
                        <a:latin typeface="Noto Sans" charset="0"/>
                        <a:ea typeface="Noto Sans" charset="0"/>
                        <a:cs typeface="Noto Sans" charset="0"/>
                      </a:endParaRPr>
                    </a:p>
                  </a:txBody>
                  <a:tcPr marL="165391" marR="165391" marT="6350" marB="6350" anchor="ctr">
                    <a:lnL w="12700" cap="flat" cmpd="sng" algn="ctr">
                      <a:solidFill>
                        <a:srgbClr val="434346"/>
                      </a:solidFill>
                      <a:prstDash val="solid"/>
                      <a:round/>
                      <a:headEnd type="none" w="med" len="med"/>
                      <a:tailEnd type="none" w="med" len="med"/>
                    </a:lnL>
                    <a:lnR w="12700" cap="flat" cmpd="sng" algn="ctr">
                      <a:solidFill>
                        <a:srgbClr val="434346"/>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c>
                  <a:txBody>
                    <a:bodyPr/>
                    <a:lstStyle/>
                    <a:p>
                      <a:pPr indent="0" marL="0">
                        <a:buNone/>
                      </a:pPr>
                      <a:r>
                        <a:rPr lang="en-US" sz="1300" b="1" dirty="0">
                          <a:solidFill>
                            <a:srgbClr val="E0D6DE"/>
                          </a:solidFill>
                          <a:latin typeface="Noto Sans" pitchFamily="34" charset="0"/>
                          <a:ea typeface="Noto Sans" pitchFamily="34" charset="-122"/>
                          <a:cs typeface="Noto Sans" pitchFamily="34" charset="-120"/>
                        </a:rPr>
                        <a:t>Incorrect</a:t>
                      </a:r>
                      <a:endParaRPr lang="en-US" sz="1300" dirty="0">
                        <a:latin typeface="Noto Sans" charset="0"/>
                        <a:ea typeface="Noto Sans" charset="0"/>
                        <a:cs typeface="Noto Sans" charset="0"/>
                      </a:endParaRPr>
                    </a:p>
                  </a:txBody>
                  <a:tcPr marL="165391" marR="165391" marT="6350" marB="6350" anchor="ctr">
                    <a:lnL w="12700" cap="flat" cmpd="sng" algn="ctr">
                      <a:solidFill>
                        <a:srgbClr val="434346"/>
                      </a:solidFill>
                      <a:prstDash val="solid"/>
                      <a:round/>
                      <a:headEnd type="none" w="med" len="med"/>
                      <a:tailEnd type="none" w="med" len="med"/>
                    </a:lnL>
                    <a:lnR w="12700" cap="flat" cmpd="sng" algn="ctr">
                      <a:solidFill>
                        <a:srgbClr val="434346"/>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c>
                  <a:txBody>
                    <a:bodyPr/>
                    <a:lstStyle/>
                    <a:p>
                      <a:pPr indent="0" marL="0">
                        <a:buNone/>
                      </a:pPr>
                      <a:r>
                        <a:rPr lang="en-US" sz="1300" b="1" dirty="0">
                          <a:solidFill>
                            <a:srgbClr val="E0D6DE"/>
                          </a:solidFill>
                          <a:latin typeface="Noto Sans" pitchFamily="34" charset="0"/>
                          <a:ea typeface="Noto Sans" pitchFamily="34" charset="-122"/>
                          <a:cs typeface="Noto Sans" pitchFamily="34" charset="-120"/>
                        </a:rPr>
                        <a:t>Total</a:t>
                      </a:r>
                      <a:endParaRPr lang="en-US" sz="1300" dirty="0">
                        <a:latin typeface="Noto Sans" charset="0"/>
                        <a:ea typeface="Noto Sans" charset="0"/>
                        <a:cs typeface="Noto Sans" charset="0"/>
                      </a:endParaRPr>
                    </a:p>
                  </a:txBody>
                  <a:tcPr marL="165391" marR="165391" marT="6350" marB="6350" anchor="ctr">
                    <a:lnL w="12700" cap="flat" cmpd="sng" algn="ctr">
                      <a:solidFill>
                        <a:srgbClr val="434346"/>
                      </a:solidFill>
                      <a:prstDash val="solid"/>
                      <a:round/>
                      <a:headEnd type="none" w="med" len="med"/>
                      <a:tailEnd type="none" w="med" len="med"/>
                    </a:lnL>
                    <a:lnR w="12700" cap="flat" cmpd="sng" algn="ctr">
                      <a:solidFill>
                        <a:srgbClr val="434346"/>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r>
              <a:tr h="482092">
                <a:tc>
                  <a:txBody>
                    <a:bodyPr/>
                    <a:lstStyle/>
                    <a:p>
                      <a:pPr indent="0" marL="0">
                        <a:buNone/>
                      </a:pPr>
                      <a:r>
                        <a:rPr lang="en-US" sz="1300" dirty="0">
                          <a:solidFill>
                            <a:srgbClr val="E0D6DE"/>
                          </a:solidFill>
                          <a:latin typeface="Noto Sans" pitchFamily="34" charset="0"/>
                          <a:ea typeface="Noto Sans" pitchFamily="34" charset="-122"/>
                          <a:cs typeface="Noto Sans" pitchFamily="34" charset="-120"/>
                        </a:rPr>
                        <a:t>Inflectional</a:t>
                      </a:r>
                      <a:endParaRPr lang="en-US" sz="1300" dirty="0">
                        <a:latin typeface="Noto Sans" charset="0"/>
                        <a:ea typeface="Noto Sans" charset="0"/>
                        <a:cs typeface="Noto Sans" charset="0"/>
                      </a:endParaRPr>
                    </a:p>
                  </a:txBody>
                  <a:tcPr marL="165391" marR="165391" marT="6350" marB="6350" anchor="ctr">
                    <a:lnL w="12700" cap="flat" cmpd="sng" algn="ctr">
                      <a:solidFill>
                        <a:srgbClr val="434346"/>
                      </a:solidFill>
                      <a:prstDash val="solid"/>
                      <a:round/>
                      <a:headEnd type="none" w="med" len="med"/>
                      <a:tailEnd type="none" w="med" len="med"/>
                    </a:lnL>
                    <a:lnR w="12700" cap="flat" cmpd="sng" algn="ctr">
                      <a:solidFill>
                        <a:srgbClr val="434346"/>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c>
                  <a:txBody>
                    <a:bodyPr/>
                    <a:lstStyle/>
                    <a:p>
                      <a:pPr indent="0" marL="0">
                        <a:buNone/>
                      </a:pPr>
                      <a:r>
                        <a:rPr lang="en-US" sz="1300" dirty="0">
                          <a:solidFill>
                            <a:srgbClr val="E0D6DE"/>
                          </a:solidFill>
                          <a:latin typeface="Noto Sans" pitchFamily="34" charset="0"/>
                          <a:ea typeface="Noto Sans" pitchFamily="34" charset="-122"/>
                          <a:cs typeface="Noto Sans" pitchFamily="34" charset="-120"/>
                        </a:rPr>
                        <a:t>460</a:t>
                      </a:r>
                      <a:endParaRPr lang="en-US" sz="1300" dirty="0">
                        <a:latin typeface="Noto Sans" charset="0"/>
                        <a:ea typeface="Noto Sans" charset="0"/>
                        <a:cs typeface="Noto Sans" charset="0"/>
                      </a:endParaRPr>
                    </a:p>
                  </a:txBody>
                  <a:tcPr marL="165391" marR="165391" marT="6350" marB="6350" anchor="ctr">
                    <a:lnL w="12700" cap="flat" cmpd="sng" algn="ctr">
                      <a:solidFill>
                        <a:srgbClr val="434346"/>
                      </a:solidFill>
                      <a:prstDash val="solid"/>
                      <a:round/>
                      <a:headEnd type="none" w="med" len="med"/>
                      <a:tailEnd type="none" w="med" len="med"/>
                    </a:lnL>
                    <a:lnR w="12700" cap="flat" cmpd="sng" algn="ctr">
                      <a:solidFill>
                        <a:srgbClr val="434346"/>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c>
                  <a:txBody>
                    <a:bodyPr/>
                    <a:lstStyle/>
                    <a:p>
                      <a:pPr indent="0" marL="0">
                        <a:buNone/>
                      </a:pPr>
                      <a:r>
                        <a:rPr lang="en-US" sz="1300" dirty="0">
                          <a:solidFill>
                            <a:srgbClr val="E0D6DE"/>
                          </a:solidFill>
                          <a:latin typeface="Noto Sans" pitchFamily="34" charset="0"/>
                          <a:ea typeface="Noto Sans" pitchFamily="34" charset="-122"/>
                          <a:cs typeface="Noto Sans" pitchFamily="34" charset="-120"/>
                        </a:rPr>
                        <a:t>40</a:t>
                      </a:r>
                      <a:endParaRPr lang="en-US" sz="1300" dirty="0">
                        <a:latin typeface="Noto Sans" charset="0"/>
                        <a:ea typeface="Noto Sans" charset="0"/>
                        <a:cs typeface="Noto Sans" charset="0"/>
                      </a:endParaRPr>
                    </a:p>
                  </a:txBody>
                  <a:tcPr marL="165391" marR="165391" marT="6350" marB="6350" anchor="ctr">
                    <a:lnL w="12700" cap="flat" cmpd="sng" algn="ctr">
                      <a:solidFill>
                        <a:srgbClr val="434346"/>
                      </a:solidFill>
                      <a:prstDash val="solid"/>
                      <a:round/>
                      <a:headEnd type="none" w="med" len="med"/>
                      <a:tailEnd type="none" w="med" len="med"/>
                    </a:lnL>
                    <a:lnR w="12700" cap="flat" cmpd="sng" algn="ctr">
                      <a:solidFill>
                        <a:srgbClr val="434346"/>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c>
                  <a:txBody>
                    <a:bodyPr/>
                    <a:lstStyle/>
                    <a:p>
                      <a:pPr indent="0" marL="0">
                        <a:buNone/>
                      </a:pPr>
                      <a:r>
                        <a:rPr lang="en-US" sz="1300" dirty="0">
                          <a:solidFill>
                            <a:srgbClr val="E0D6DE"/>
                          </a:solidFill>
                          <a:latin typeface="Noto Sans" pitchFamily="34" charset="0"/>
                          <a:ea typeface="Noto Sans" pitchFamily="34" charset="-122"/>
                          <a:cs typeface="Noto Sans" pitchFamily="34" charset="-120"/>
                        </a:rPr>
                        <a:t>500</a:t>
                      </a:r>
                      <a:endParaRPr lang="en-US" sz="1300" dirty="0">
                        <a:latin typeface="Noto Sans" charset="0"/>
                        <a:ea typeface="Noto Sans" charset="0"/>
                        <a:cs typeface="Noto Sans" charset="0"/>
                      </a:endParaRPr>
                    </a:p>
                  </a:txBody>
                  <a:tcPr marL="165391" marR="165391" marT="6350" marB="6350" anchor="ctr">
                    <a:lnL w="12700" cap="flat" cmpd="sng" algn="ctr">
                      <a:solidFill>
                        <a:srgbClr val="434346"/>
                      </a:solidFill>
                      <a:prstDash val="solid"/>
                      <a:round/>
                      <a:headEnd type="none" w="med" len="med"/>
                      <a:tailEnd type="none" w="med" len="med"/>
                    </a:lnL>
                    <a:lnR w="12700" cap="flat" cmpd="sng" algn="ctr">
                      <a:solidFill>
                        <a:srgbClr val="434346"/>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r>
              <a:tr h="482092">
                <a:tc>
                  <a:txBody>
                    <a:bodyPr/>
                    <a:lstStyle/>
                    <a:p>
                      <a:pPr indent="0" marL="0">
                        <a:buNone/>
                      </a:pPr>
                      <a:r>
                        <a:rPr lang="en-US" sz="1300" dirty="0">
                          <a:solidFill>
                            <a:srgbClr val="E0D6DE"/>
                          </a:solidFill>
                          <a:latin typeface="Noto Sans" pitchFamily="34" charset="0"/>
                          <a:ea typeface="Noto Sans" pitchFamily="34" charset="-122"/>
                          <a:cs typeface="Noto Sans" pitchFamily="34" charset="-120"/>
                        </a:rPr>
                        <a:t>Derivational</a:t>
                      </a:r>
                      <a:endParaRPr lang="en-US" sz="1300" dirty="0">
                        <a:latin typeface="Noto Sans" charset="0"/>
                        <a:ea typeface="Noto Sans" charset="0"/>
                        <a:cs typeface="Noto Sans" charset="0"/>
                      </a:endParaRPr>
                    </a:p>
                  </a:txBody>
                  <a:tcPr marL="165391" marR="165391" marT="6350" marB="6350" anchor="ctr">
                    <a:lnL w="12700" cap="flat" cmpd="sng" algn="ctr">
                      <a:solidFill>
                        <a:srgbClr val="434346"/>
                      </a:solidFill>
                      <a:prstDash val="solid"/>
                      <a:round/>
                      <a:headEnd type="none" w="med" len="med"/>
                      <a:tailEnd type="none" w="med" len="med"/>
                    </a:lnL>
                    <a:lnR w="12700" cap="flat" cmpd="sng" algn="ctr">
                      <a:solidFill>
                        <a:srgbClr val="434346"/>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c>
                  <a:txBody>
                    <a:bodyPr/>
                    <a:lstStyle/>
                    <a:p>
                      <a:pPr indent="0" marL="0">
                        <a:buNone/>
                      </a:pPr>
                      <a:r>
                        <a:rPr lang="en-US" sz="1300" dirty="0">
                          <a:solidFill>
                            <a:srgbClr val="E0D6DE"/>
                          </a:solidFill>
                          <a:latin typeface="Noto Sans" pitchFamily="34" charset="0"/>
                          <a:ea typeface="Noto Sans" pitchFamily="34" charset="-122"/>
                          <a:cs typeface="Noto Sans" pitchFamily="34" charset="-120"/>
                        </a:rPr>
                        <a:t>405</a:t>
                      </a:r>
                      <a:endParaRPr lang="en-US" sz="1300" dirty="0">
                        <a:latin typeface="Noto Sans" charset="0"/>
                        <a:ea typeface="Noto Sans" charset="0"/>
                        <a:cs typeface="Noto Sans" charset="0"/>
                      </a:endParaRPr>
                    </a:p>
                  </a:txBody>
                  <a:tcPr marL="165391" marR="165391" marT="6350" marB="6350" anchor="ctr">
                    <a:lnL w="12700" cap="flat" cmpd="sng" algn="ctr">
                      <a:solidFill>
                        <a:srgbClr val="434346"/>
                      </a:solidFill>
                      <a:prstDash val="solid"/>
                      <a:round/>
                      <a:headEnd type="none" w="med" len="med"/>
                      <a:tailEnd type="none" w="med" len="med"/>
                    </a:lnL>
                    <a:lnR w="12700" cap="flat" cmpd="sng" algn="ctr">
                      <a:solidFill>
                        <a:srgbClr val="434346"/>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c>
                  <a:txBody>
                    <a:bodyPr/>
                    <a:lstStyle/>
                    <a:p>
                      <a:pPr indent="0" marL="0">
                        <a:buNone/>
                      </a:pPr>
                      <a:r>
                        <a:rPr lang="en-US" sz="1300" dirty="0">
                          <a:solidFill>
                            <a:srgbClr val="E0D6DE"/>
                          </a:solidFill>
                          <a:latin typeface="Noto Sans" pitchFamily="34" charset="0"/>
                          <a:ea typeface="Noto Sans" pitchFamily="34" charset="-122"/>
                          <a:cs typeface="Noto Sans" pitchFamily="34" charset="-120"/>
                        </a:rPr>
                        <a:t>95</a:t>
                      </a:r>
                      <a:endParaRPr lang="en-US" sz="1300" dirty="0">
                        <a:latin typeface="Noto Sans" charset="0"/>
                        <a:ea typeface="Noto Sans" charset="0"/>
                        <a:cs typeface="Noto Sans" charset="0"/>
                      </a:endParaRPr>
                    </a:p>
                  </a:txBody>
                  <a:tcPr marL="165391" marR="165391" marT="6350" marB="6350" anchor="ctr">
                    <a:lnL w="12700" cap="flat" cmpd="sng" algn="ctr">
                      <a:solidFill>
                        <a:srgbClr val="434346"/>
                      </a:solidFill>
                      <a:prstDash val="solid"/>
                      <a:round/>
                      <a:headEnd type="none" w="med" len="med"/>
                      <a:tailEnd type="none" w="med" len="med"/>
                    </a:lnL>
                    <a:lnR w="12700" cap="flat" cmpd="sng" algn="ctr">
                      <a:solidFill>
                        <a:srgbClr val="434346"/>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c>
                  <a:txBody>
                    <a:bodyPr/>
                    <a:lstStyle/>
                    <a:p>
                      <a:pPr indent="0" marL="0">
                        <a:buNone/>
                      </a:pPr>
                      <a:r>
                        <a:rPr lang="en-US" sz="1300" dirty="0">
                          <a:solidFill>
                            <a:srgbClr val="E0D6DE"/>
                          </a:solidFill>
                          <a:latin typeface="Noto Sans" pitchFamily="34" charset="0"/>
                          <a:ea typeface="Noto Sans" pitchFamily="34" charset="-122"/>
                          <a:cs typeface="Noto Sans" pitchFamily="34" charset="-120"/>
                        </a:rPr>
                        <a:t>500</a:t>
                      </a:r>
                      <a:endParaRPr lang="en-US" sz="1300" dirty="0">
                        <a:latin typeface="Noto Sans" charset="0"/>
                        <a:ea typeface="Noto Sans" charset="0"/>
                        <a:cs typeface="Noto Sans" charset="0"/>
                      </a:endParaRPr>
                    </a:p>
                  </a:txBody>
                  <a:tcPr marL="165391" marR="165391" marT="6350" marB="6350" anchor="ctr">
                    <a:lnL w="12700" cap="flat" cmpd="sng" algn="ctr">
                      <a:solidFill>
                        <a:srgbClr val="434346"/>
                      </a:solidFill>
                      <a:prstDash val="solid"/>
                      <a:round/>
                      <a:headEnd type="none" w="med" len="med"/>
                      <a:tailEnd type="none" w="med" len="med"/>
                    </a:lnL>
                    <a:lnR w="12700" cap="flat" cmpd="sng" algn="ctr">
                      <a:solidFill>
                        <a:srgbClr val="434346"/>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r>
              <a:tr h="478917">
                <a:tc>
                  <a:txBody>
                    <a:bodyPr/>
                    <a:lstStyle/>
                    <a:p>
                      <a:pPr indent="0" marL="0">
                        <a:buNone/>
                      </a:pPr>
                      <a:r>
                        <a:rPr lang="en-US" sz="1300" b="1" dirty="0">
                          <a:solidFill>
                            <a:srgbClr val="E0D6DE"/>
                          </a:solidFill>
                          <a:latin typeface="Noto Sans" pitchFamily="34" charset="0"/>
                          <a:ea typeface="Noto Sans" pitchFamily="34" charset="-122"/>
                          <a:cs typeface="Noto Sans" pitchFamily="34" charset="-120"/>
                        </a:rPr>
                        <a:t>Total</a:t>
                      </a:r>
                      <a:endParaRPr lang="en-US" sz="1300" dirty="0">
                        <a:latin typeface="Noto Sans" charset="0"/>
                        <a:ea typeface="Noto Sans" charset="0"/>
                        <a:cs typeface="Noto Sans" charset="0"/>
                      </a:endParaRPr>
                    </a:p>
                  </a:txBody>
                  <a:tcPr marL="165391" marR="165391" marT="6350" marB="6350" anchor="ctr">
                    <a:lnL w="12700" cap="flat" cmpd="sng" algn="ctr">
                      <a:solidFill>
                        <a:srgbClr val="434346"/>
                      </a:solidFill>
                      <a:prstDash val="solid"/>
                      <a:round/>
                      <a:headEnd type="none" w="med" len="med"/>
                      <a:tailEnd type="none" w="med" len="med"/>
                    </a:lnL>
                    <a:lnR w="12700" cap="flat" cmpd="sng" algn="ctr">
                      <a:solidFill>
                        <a:srgbClr val="434346"/>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c>
                  <a:txBody>
                    <a:bodyPr/>
                    <a:lstStyle/>
                    <a:p>
                      <a:pPr indent="0" marL="0">
                        <a:buNone/>
                      </a:pPr>
                      <a:r>
                        <a:rPr lang="en-US" sz="1300" b="1" dirty="0">
                          <a:solidFill>
                            <a:srgbClr val="E0D6DE"/>
                          </a:solidFill>
                          <a:latin typeface="Noto Sans" pitchFamily="34" charset="0"/>
                          <a:ea typeface="Noto Sans" pitchFamily="34" charset="-122"/>
                          <a:cs typeface="Noto Sans" pitchFamily="34" charset="-120"/>
                        </a:rPr>
                        <a:t>865</a:t>
                      </a:r>
                      <a:endParaRPr lang="en-US" sz="1300" dirty="0">
                        <a:latin typeface="Noto Sans" charset="0"/>
                        <a:ea typeface="Noto Sans" charset="0"/>
                        <a:cs typeface="Noto Sans" charset="0"/>
                      </a:endParaRPr>
                    </a:p>
                  </a:txBody>
                  <a:tcPr marL="165391" marR="165391" marT="6350" marB="6350" anchor="ctr">
                    <a:lnL w="12700" cap="flat" cmpd="sng" algn="ctr">
                      <a:solidFill>
                        <a:srgbClr val="434346"/>
                      </a:solidFill>
                      <a:prstDash val="solid"/>
                      <a:round/>
                      <a:headEnd type="none" w="med" len="med"/>
                      <a:tailEnd type="none" w="med" len="med"/>
                    </a:lnL>
                    <a:lnR w="12700" cap="flat" cmpd="sng" algn="ctr">
                      <a:solidFill>
                        <a:srgbClr val="434346"/>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c>
                  <a:txBody>
                    <a:bodyPr/>
                    <a:lstStyle/>
                    <a:p>
                      <a:pPr indent="0" marL="0">
                        <a:buNone/>
                      </a:pPr>
                      <a:r>
                        <a:rPr lang="en-US" sz="1300" b="1" dirty="0">
                          <a:solidFill>
                            <a:srgbClr val="E0D6DE"/>
                          </a:solidFill>
                          <a:latin typeface="Noto Sans" pitchFamily="34" charset="0"/>
                          <a:ea typeface="Noto Sans" pitchFamily="34" charset="-122"/>
                          <a:cs typeface="Noto Sans" pitchFamily="34" charset="-120"/>
                        </a:rPr>
                        <a:t>135</a:t>
                      </a:r>
                      <a:endParaRPr lang="en-US" sz="1300" dirty="0">
                        <a:latin typeface="Noto Sans" charset="0"/>
                        <a:ea typeface="Noto Sans" charset="0"/>
                        <a:cs typeface="Noto Sans" charset="0"/>
                      </a:endParaRPr>
                    </a:p>
                  </a:txBody>
                  <a:tcPr marL="165391" marR="165391" marT="6350" marB="6350" anchor="ctr">
                    <a:lnL w="12700" cap="flat" cmpd="sng" algn="ctr">
                      <a:solidFill>
                        <a:srgbClr val="434346"/>
                      </a:solidFill>
                      <a:prstDash val="solid"/>
                      <a:round/>
                      <a:headEnd type="none" w="med" len="med"/>
                      <a:tailEnd type="none" w="med" len="med"/>
                    </a:lnL>
                    <a:lnR w="12700" cap="flat" cmpd="sng" algn="ctr">
                      <a:solidFill>
                        <a:srgbClr val="434346"/>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c>
                  <a:txBody>
                    <a:bodyPr/>
                    <a:lstStyle/>
                    <a:p>
                      <a:pPr indent="0" marL="0">
                        <a:buNone/>
                      </a:pPr>
                      <a:r>
                        <a:rPr lang="en-US" sz="1300" b="1" dirty="0">
                          <a:solidFill>
                            <a:srgbClr val="E0D6DE"/>
                          </a:solidFill>
                          <a:latin typeface="Noto Sans" pitchFamily="34" charset="0"/>
                          <a:ea typeface="Noto Sans" pitchFamily="34" charset="-122"/>
                          <a:cs typeface="Noto Sans" pitchFamily="34" charset="-120"/>
                        </a:rPr>
                        <a:t>1,000</a:t>
                      </a:r>
                      <a:endParaRPr lang="en-US" sz="1300" dirty="0">
                        <a:latin typeface="Noto Sans" charset="0"/>
                        <a:ea typeface="Noto Sans" charset="0"/>
                        <a:cs typeface="Noto Sans" charset="0"/>
                      </a:endParaRPr>
                    </a:p>
                  </a:txBody>
                  <a:tcPr marL="165391" marR="165391" marT="6350" marB="6350" anchor="ctr">
                    <a:lnL w="12700" cap="flat" cmpd="sng" algn="ctr">
                      <a:solidFill>
                        <a:srgbClr val="434346"/>
                      </a:solidFill>
                      <a:prstDash val="solid"/>
                      <a:round/>
                      <a:headEnd type="none" w="med" len="med"/>
                      <a:tailEnd type="none" w="med" len="med"/>
                    </a:lnL>
                    <a:lnR w="12700" cap="flat" cmpd="sng" algn="ctr">
                      <a:solidFill>
                        <a:srgbClr val="434346"/>
                      </a:solidFill>
                      <a:prstDash val="solid"/>
                      <a:round/>
                      <a:headEnd type="none" w="med" len="med"/>
                      <a:tailEnd type="none" w="med" len="med"/>
                    </a:lnR>
                    <a:lnT w="12700" cap="flat" cmpd="sng" algn="ctr">
                      <a:solidFill>
                        <a:srgbClr val="434346"/>
                      </a:solidFill>
                      <a:prstDash val="solid"/>
                      <a:round/>
                      <a:headEnd type="none" w="med" len="med"/>
                      <a:tailEnd type="none" w="med" len="med"/>
                    </a:lnT>
                    <a:lnB w="12700" cap="flat" cmpd="sng" algn="ctr">
                      <a:solidFill>
                        <a:srgbClr val="434346"/>
                      </a:solidFill>
                      <a:prstDash val="solid"/>
                      <a:round/>
                      <a:headEnd type="none" w="med" len="med"/>
                      <a:tailEnd type="none" w="med" len="med"/>
                    </a:lnB>
                    <a:solidFill>
                      <a:srgbClr val="07070C"/>
                    </a:solidFill>
                  </a:tcPr>
                </a:tc>
              </a:tr>
            </a:tbl>
          </a:graphicData>
        </a:graphic>
      </p:graphicFrame>
      <p:sp>
        <p:nvSpPr>
          <p:cNvPr id="11" name="Text 8"/>
          <p:cNvSpPr/>
          <p:nvPr/>
        </p:nvSpPr>
        <p:spPr>
          <a:xfrm>
            <a:off x="6303904" y="4182170"/>
            <a:ext cx="5232666" cy="258465"/>
          </a:xfrm>
          <a:prstGeom prst="rect">
            <a:avLst/>
          </a:prstGeom>
          <a:noFill/>
          <a:ln/>
        </p:spPr>
        <p:txBody>
          <a:bodyPr wrap="none" lIns="0" tIns="0" rIns="0" bIns="0" rtlCol="0" anchor="t"/>
          <a:lstStyle/>
          <a:p>
            <a:pPr algn="l" indent="0" marL="0">
              <a:lnSpc>
                <a:spcPct val="104000"/>
              </a:lnSpc>
              <a:buNone/>
            </a:pPr>
            <a:r>
              <a:rPr lang="en-US" sz="1600" dirty="0">
                <a:solidFill>
                  <a:srgbClr val="97B8FF"/>
                </a:solidFill>
                <a:latin typeface="Sora Medium" pitchFamily="34" charset="0"/>
                <a:ea typeface="Sora Medium" pitchFamily="34" charset="-122"/>
                <a:cs typeface="Sora Medium" pitchFamily="34" charset="-120"/>
              </a:rPr>
              <a:t>Decision Rule</a:t>
            </a:r>
            <a:endParaRPr lang="en-US" sz="1600" dirty="0"/>
          </a:p>
        </p:txBody>
      </p:sp>
      <p:sp>
        <p:nvSpPr>
          <p:cNvPr id="12" name="Text 9"/>
          <p:cNvSpPr/>
          <p:nvPr/>
        </p:nvSpPr>
        <p:spPr>
          <a:xfrm>
            <a:off x="6303904" y="4605933"/>
            <a:ext cx="5232666" cy="1323082"/>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E0D6DE"/>
                </a:solidFill>
                <a:latin typeface="Noto Sans" pitchFamily="34" charset="0"/>
                <a:ea typeface="Noto Sans" pitchFamily="34" charset="-122"/>
                <a:cs typeface="Noto Sans" pitchFamily="34" charset="-120"/>
              </a:rPr>
              <a:t>If the computed p-value falls below α = 0.05, we reject H₀ and conclude that the observed difference in parsing accuracy is unlikely to have arisen by chance. The chi-square statistic measures the deviation between observed and expected cell frequencies under the assumption of independence.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513358"/>
            <a:ext cx="10868745" cy="436066"/>
          </a:xfrm>
          <a:prstGeom prst="rect">
            <a:avLst/>
          </a:prstGeom>
          <a:noFill/>
          <a:ln/>
        </p:spPr>
        <p:txBody>
          <a:bodyPr wrap="none" lIns="0" tIns="0" rIns="0" bIns="0" rtlCol="0" anchor="t"/>
          <a:lstStyle/>
          <a:p>
            <a:pPr algn="l" indent="0" marL="0">
              <a:lnSpc>
                <a:spcPct val="104000"/>
              </a:lnSpc>
              <a:buNone/>
            </a:pPr>
            <a:r>
              <a:rPr lang="en-US" sz="2700" dirty="0">
                <a:solidFill>
                  <a:srgbClr val="97B8FF"/>
                </a:solidFill>
                <a:latin typeface="Sora Medium" pitchFamily="34" charset="0"/>
                <a:ea typeface="Sora Medium" pitchFamily="34" charset="-122"/>
                <a:cs typeface="Sora Medium" pitchFamily="34" charset="-120"/>
              </a:rPr>
              <a:t>Statistical Test Results</a:t>
            </a:r>
            <a:endParaRPr lang="en-US" sz="2700" dirty="0"/>
          </a:p>
        </p:txBody>
      </p:sp>
      <p:sp>
        <p:nvSpPr>
          <p:cNvPr id="3" name="Text 1"/>
          <p:cNvSpPr/>
          <p:nvPr/>
        </p:nvSpPr>
        <p:spPr>
          <a:xfrm>
            <a:off x="661475" y="1254621"/>
            <a:ext cx="5360754" cy="460474"/>
          </a:xfrm>
          <a:prstGeom prst="rect">
            <a:avLst/>
          </a:prstGeom>
          <a:noFill/>
          <a:ln/>
        </p:spPr>
        <p:txBody>
          <a:bodyPr wrap="none" lIns="0" tIns="0" rIns="0" bIns="0" rtlCol="0" anchor="t"/>
          <a:lstStyle/>
          <a:p>
            <a:pPr algn="ctr" indent="0" marL="0">
              <a:lnSpc>
                <a:spcPct val="83000"/>
              </a:lnSpc>
              <a:buNone/>
            </a:pPr>
            <a:r>
              <a:rPr lang="en-US" sz="3600" dirty="0">
                <a:solidFill>
                  <a:srgbClr val="E0D6DE"/>
                </a:solidFill>
                <a:latin typeface="Sora Medium" pitchFamily="34" charset="0"/>
                <a:ea typeface="Sora Medium" pitchFamily="34" charset="-122"/>
                <a:cs typeface="Sora Medium" pitchFamily="34" charset="-120"/>
              </a:rPr>
              <a:t>25.9</a:t>
            </a:r>
            <a:endParaRPr lang="en-US" sz="3600" dirty="0"/>
          </a:p>
        </p:txBody>
      </p:sp>
      <p:sp>
        <p:nvSpPr>
          <p:cNvPr id="4" name="Text 2"/>
          <p:cNvSpPr/>
          <p:nvPr/>
        </p:nvSpPr>
        <p:spPr>
          <a:xfrm>
            <a:off x="661475" y="1873151"/>
            <a:ext cx="5360754" cy="217984"/>
          </a:xfrm>
          <a:prstGeom prst="rect">
            <a:avLst/>
          </a:prstGeom>
          <a:noFill/>
          <a:ln/>
        </p:spPr>
        <p:txBody>
          <a:bodyPr wrap="none" lIns="0" tIns="0" rIns="0" bIns="0" rtlCol="0" anchor="t"/>
          <a:lstStyle/>
          <a:p>
            <a:pPr algn="ctr" indent="0" marL="0">
              <a:lnSpc>
                <a:spcPct val="104000"/>
              </a:lnSpc>
              <a:buNone/>
            </a:pPr>
            <a:r>
              <a:rPr lang="en-US" sz="1350" dirty="0">
                <a:solidFill>
                  <a:srgbClr val="E0D6DE"/>
                </a:solidFill>
                <a:latin typeface="Sora Medium" pitchFamily="34" charset="0"/>
                <a:ea typeface="Sora Medium" pitchFamily="34" charset="-122"/>
                <a:cs typeface="Sora Medium" pitchFamily="34" charset="-120"/>
              </a:rPr>
              <a:t>χ² Statistic</a:t>
            </a:r>
            <a:endParaRPr lang="en-US" sz="1350" dirty="0"/>
          </a:p>
        </p:txBody>
      </p:sp>
      <p:sp>
        <p:nvSpPr>
          <p:cNvPr id="5" name="Text 3"/>
          <p:cNvSpPr/>
          <p:nvPr/>
        </p:nvSpPr>
        <p:spPr>
          <a:xfrm>
            <a:off x="661475" y="2161778"/>
            <a:ext cx="5360754" cy="205879"/>
          </a:xfrm>
          <a:prstGeom prst="rect">
            <a:avLst/>
          </a:prstGeom>
          <a:noFill/>
          <a:ln/>
        </p:spPr>
        <p:txBody>
          <a:bodyPr wrap="none" lIns="0" tIns="0" rIns="0" bIns="0" rtlCol="0" anchor="t"/>
          <a:lstStyle/>
          <a:p>
            <a:pPr algn="ctr" indent="0" marL="0">
              <a:lnSpc>
                <a:spcPct val="123000"/>
              </a:lnSpc>
              <a:buNone/>
            </a:pPr>
            <a:r>
              <a:rPr lang="en-US" sz="1050" dirty="0">
                <a:solidFill>
                  <a:srgbClr val="E0D6DE"/>
                </a:solidFill>
                <a:latin typeface="Noto Sans" pitchFamily="34" charset="0"/>
                <a:ea typeface="Noto Sans" pitchFamily="34" charset="-122"/>
                <a:cs typeface="Noto Sans" pitchFamily="34" charset="-120"/>
              </a:rPr>
              <a:t>Chi-square value computed from contingency table</a:t>
            </a:r>
            <a:endParaRPr lang="en-US" sz="1050" dirty="0"/>
          </a:p>
        </p:txBody>
      </p:sp>
      <p:sp>
        <p:nvSpPr>
          <p:cNvPr id="6" name="Text 4"/>
          <p:cNvSpPr/>
          <p:nvPr/>
        </p:nvSpPr>
        <p:spPr>
          <a:xfrm>
            <a:off x="6169367" y="1254621"/>
            <a:ext cx="5360853" cy="460474"/>
          </a:xfrm>
          <a:prstGeom prst="rect">
            <a:avLst/>
          </a:prstGeom>
          <a:noFill/>
          <a:ln/>
        </p:spPr>
        <p:txBody>
          <a:bodyPr wrap="none" lIns="0" tIns="0" rIns="0" bIns="0" rtlCol="0" anchor="t"/>
          <a:lstStyle/>
          <a:p>
            <a:pPr algn="ctr" indent="0" marL="0">
              <a:lnSpc>
                <a:spcPct val="83000"/>
              </a:lnSpc>
              <a:buNone/>
            </a:pPr>
            <a:r>
              <a:rPr lang="en-US" sz="3600" dirty="0">
                <a:solidFill>
                  <a:srgbClr val="E0D6DE"/>
                </a:solidFill>
                <a:latin typeface="Sora Medium" pitchFamily="34" charset="0"/>
                <a:ea typeface="Sora Medium" pitchFamily="34" charset="-122"/>
                <a:cs typeface="Sora Medium" pitchFamily="34" charset="-120"/>
              </a:rPr>
              <a:t>&lt;0.0001</a:t>
            </a:r>
            <a:endParaRPr lang="en-US" sz="3600" dirty="0"/>
          </a:p>
        </p:txBody>
      </p:sp>
      <p:sp>
        <p:nvSpPr>
          <p:cNvPr id="7" name="Text 5"/>
          <p:cNvSpPr/>
          <p:nvPr/>
        </p:nvSpPr>
        <p:spPr>
          <a:xfrm>
            <a:off x="6169367" y="1873151"/>
            <a:ext cx="5360853" cy="217984"/>
          </a:xfrm>
          <a:prstGeom prst="rect">
            <a:avLst/>
          </a:prstGeom>
          <a:noFill/>
          <a:ln/>
        </p:spPr>
        <p:txBody>
          <a:bodyPr wrap="none" lIns="0" tIns="0" rIns="0" bIns="0" rtlCol="0" anchor="t"/>
          <a:lstStyle/>
          <a:p>
            <a:pPr algn="ctr" indent="0" marL="0">
              <a:lnSpc>
                <a:spcPct val="104000"/>
              </a:lnSpc>
              <a:buNone/>
            </a:pPr>
            <a:r>
              <a:rPr lang="en-US" sz="1350" dirty="0">
                <a:solidFill>
                  <a:srgbClr val="E0D6DE"/>
                </a:solidFill>
                <a:latin typeface="Sora Medium" pitchFamily="34" charset="0"/>
                <a:ea typeface="Sora Medium" pitchFamily="34" charset="-122"/>
                <a:cs typeface="Sora Medium" pitchFamily="34" charset="-120"/>
              </a:rPr>
              <a:t>p-value</a:t>
            </a:r>
            <a:endParaRPr lang="en-US" sz="1350" dirty="0"/>
          </a:p>
        </p:txBody>
      </p:sp>
      <p:sp>
        <p:nvSpPr>
          <p:cNvPr id="8" name="Text 6"/>
          <p:cNvSpPr/>
          <p:nvPr/>
        </p:nvSpPr>
        <p:spPr>
          <a:xfrm>
            <a:off x="6169367" y="2161778"/>
            <a:ext cx="5360853" cy="205879"/>
          </a:xfrm>
          <a:prstGeom prst="rect">
            <a:avLst/>
          </a:prstGeom>
          <a:noFill/>
          <a:ln/>
        </p:spPr>
        <p:txBody>
          <a:bodyPr wrap="none" lIns="0" tIns="0" rIns="0" bIns="0" rtlCol="0" anchor="t"/>
          <a:lstStyle/>
          <a:p>
            <a:pPr algn="ctr" indent="0" marL="0">
              <a:lnSpc>
                <a:spcPct val="123000"/>
              </a:lnSpc>
              <a:buNone/>
            </a:pPr>
            <a:r>
              <a:rPr lang="en-US" sz="1050" dirty="0">
                <a:solidFill>
                  <a:srgbClr val="E0D6DE"/>
                </a:solidFill>
                <a:latin typeface="Noto Sans" pitchFamily="34" charset="0"/>
                <a:ea typeface="Noto Sans" pitchFamily="34" charset="-122"/>
                <a:cs typeface="Noto Sans" pitchFamily="34" charset="-120"/>
              </a:rPr>
              <a:t>Exact value: 0.0000004 — far below α = 0.05</a:t>
            </a:r>
            <a:endParaRPr lang="en-US" sz="1050" dirty="0"/>
          </a:p>
        </p:txBody>
      </p:sp>
      <p:sp>
        <p:nvSpPr>
          <p:cNvPr id="9" name="Text 7"/>
          <p:cNvSpPr/>
          <p:nvPr/>
        </p:nvSpPr>
        <p:spPr>
          <a:xfrm>
            <a:off x="661475" y="2672854"/>
            <a:ext cx="5360754" cy="460474"/>
          </a:xfrm>
          <a:prstGeom prst="rect">
            <a:avLst/>
          </a:prstGeom>
          <a:noFill/>
          <a:ln/>
        </p:spPr>
        <p:txBody>
          <a:bodyPr wrap="none" lIns="0" tIns="0" rIns="0" bIns="0" rtlCol="0" anchor="t"/>
          <a:lstStyle/>
          <a:p>
            <a:pPr algn="ctr" indent="0" marL="0">
              <a:lnSpc>
                <a:spcPct val="83000"/>
              </a:lnSpc>
              <a:buNone/>
            </a:pPr>
            <a:r>
              <a:rPr lang="en-US" sz="3600" dirty="0">
                <a:solidFill>
                  <a:srgbClr val="E0D6DE"/>
                </a:solidFill>
                <a:latin typeface="Sora Medium" pitchFamily="34" charset="0"/>
                <a:ea typeface="Sora Medium" pitchFamily="34" charset="-122"/>
                <a:cs typeface="Sora Medium" pitchFamily="34" charset="-120"/>
              </a:rPr>
              <a:t>11pp</a:t>
            </a:r>
            <a:endParaRPr lang="en-US" sz="3600" dirty="0"/>
          </a:p>
        </p:txBody>
      </p:sp>
      <p:sp>
        <p:nvSpPr>
          <p:cNvPr id="10" name="Text 8"/>
          <p:cNvSpPr/>
          <p:nvPr/>
        </p:nvSpPr>
        <p:spPr>
          <a:xfrm>
            <a:off x="661475" y="3291384"/>
            <a:ext cx="5360754" cy="217984"/>
          </a:xfrm>
          <a:prstGeom prst="rect">
            <a:avLst/>
          </a:prstGeom>
          <a:noFill/>
          <a:ln/>
        </p:spPr>
        <p:txBody>
          <a:bodyPr wrap="none" lIns="0" tIns="0" rIns="0" bIns="0" rtlCol="0" anchor="t"/>
          <a:lstStyle/>
          <a:p>
            <a:pPr algn="ctr" indent="0" marL="0">
              <a:lnSpc>
                <a:spcPct val="104000"/>
              </a:lnSpc>
              <a:buNone/>
            </a:pPr>
            <a:r>
              <a:rPr lang="en-US" sz="1350" dirty="0">
                <a:solidFill>
                  <a:srgbClr val="E0D6DE"/>
                </a:solidFill>
                <a:latin typeface="Sora Medium" pitchFamily="34" charset="0"/>
                <a:ea typeface="Sora Medium" pitchFamily="34" charset="-122"/>
                <a:cs typeface="Sora Medium" pitchFamily="34" charset="-120"/>
              </a:rPr>
              <a:t>Observed Gap</a:t>
            </a:r>
            <a:endParaRPr lang="en-US" sz="1350" dirty="0"/>
          </a:p>
        </p:txBody>
      </p:sp>
      <p:sp>
        <p:nvSpPr>
          <p:cNvPr id="11" name="Text 9"/>
          <p:cNvSpPr/>
          <p:nvPr/>
        </p:nvSpPr>
        <p:spPr>
          <a:xfrm>
            <a:off x="661475" y="3580011"/>
            <a:ext cx="5360754" cy="205879"/>
          </a:xfrm>
          <a:prstGeom prst="rect">
            <a:avLst/>
          </a:prstGeom>
          <a:noFill/>
          <a:ln/>
        </p:spPr>
        <p:txBody>
          <a:bodyPr wrap="none" lIns="0" tIns="0" rIns="0" bIns="0" rtlCol="0" anchor="t"/>
          <a:lstStyle/>
          <a:p>
            <a:pPr algn="ctr" indent="0" marL="0">
              <a:lnSpc>
                <a:spcPct val="123000"/>
              </a:lnSpc>
              <a:buNone/>
            </a:pPr>
            <a:r>
              <a:rPr lang="en-US" sz="1050" dirty="0">
                <a:solidFill>
                  <a:srgbClr val="E0D6DE"/>
                </a:solidFill>
                <a:latin typeface="Noto Sans" pitchFamily="34" charset="0"/>
                <a:ea typeface="Noto Sans" pitchFamily="34" charset="-122"/>
                <a:cs typeface="Noto Sans" pitchFamily="34" charset="-120"/>
              </a:rPr>
              <a:t>Inflectional minus derivational accuracy</a:t>
            </a:r>
            <a:endParaRPr lang="en-US" sz="1050" dirty="0"/>
          </a:p>
        </p:txBody>
      </p:sp>
      <p:sp>
        <p:nvSpPr>
          <p:cNvPr id="12" name="Text 10"/>
          <p:cNvSpPr/>
          <p:nvPr/>
        </p:nvSpPr>
        <p:spPr>
          <a:xfrm>
            <a:off x="6169367" y="2672854"/>
            <a:ext cx="5360853" cy="460474"/>
          </a:xfrm>
          <a:prstGeom prst="rect">
            <a:avLst/>
          </a:prstGeom>
          <a:noFill/>
          <a:ln/>
        </p:spPr>
        <p:txBody>
          <a:bodyPr wrap="none" lIns="0" tIns="0" rIns="0" bIns="0" rtlCol="0" anchor="t"/>
          <a:lstStyle/>
          <a:p>
            <a:pPr algn="ctr" indent="0" marL="0">
              <a:lnSpc>
                <a:spcPct val="83000"/>
              </a:lnSpc>
              <a:buNone/>
            </a:pPr>
            <a:r>
              <a:rPr lang="en-US" sz="3600" dirty="0">
                <a:solidFill>
                  <a:srgbClr val="E0D6DE"/>
                </a:solidFill>
                <a:latin typeface="Sora Medium" pitchFamily="34" charset="0"/>
                <a:ea typeface="Sora Medium" pitchFamily="34" charset="-122"/>
                <a:cs typeface="Sora Medium" pitchFamily="34" charset="-120"/>
              </a:rPr>
              <a:t>95%</a:t>
            </a:r>
            <a:endParaRPr lang="en-US" sz="3600" dirty="0"/>
          </a:p>
        </p:txBody>
      </p:sp>
      <p:sp>
        <p:nvSpPr>
          <p:cNvPr id="13" name="Text 11"/>
          <p:cNvSpPr/>
          <p:nvPr/>
        </p:nvSpPr>
        <p:spPr>
          <a:xfrm>
            <a:off x="6169367" y="3291384"/>
            <a:ext cx="5360853" cy="217984"/>
          </a:xfrm>
          <a:prstGeom prst="rect">
            <a:avLst/>
          </a:prstGeom>
          <a:noFill/>
          <a:ln/>
        </p:spPr>
        <p:txBody>
          <a:bodyPr wrap="none" lIns="0" tIns="0" rIns="0" bIns="0" rtlCol="0" anchor="t"/>
          <a:lstStyle/>
          <a:p>
            <a:pPr algn="ctr" indent="0" marL="0">
              <a:lnSpc>
                <a:spcPct val="104000"/>
              </a:lnSpc>
              <a:buNone/>
            </a:pPr>
            <a:r>
              <a:rPr lang="en-US" sz="1350" dirty="0">
                <a:solidFill>
                  <a:srgbClr val="E0D6DE"/>
                </a:solidFill>
                <a:latin typeface="Sora Medium" pitchFamily="34" charset="0"/>
                <a:ea typeface="Sora Medium" pitchFamily="34" charset="-122"/>
                <a:cs typeface="Sora Medium" pitchFamily="34" charset="-120"/>
              </a:rPr>
              <a:t>Confidence Interval</a:t>
            </a:r>
            <a:endParaRPr lang="en-US" sz="1350" dirty="0"/>
          </a:p>
        </p:txBody>
      </p:sp>
      <p:sp>
        <p:nvSpPr>
          <p:cNvPr id="14" name="Text 12"/>
          <p:cNvSpPr/>
          <p:nvPr/>
        </p:nvSpPr>
        <p:spPr>
          <a:xfrm>
            <a:off x="6169367" y="3580011"/>
            <a:ext cx="5360853" cy="205879"/>
          </a:xfrm>
          <a:prstGeom prst="rect">
            <a:avLst/>
          </a:prstGeom>
          <a:noFill/>
          <a:ln/>
        </p:spPr>
        <p:txBody>
          <a:bodyPr wrap="none" lIns="0" tIns="0" rIns="0" bIns="0" rtlCol="0" anchor="t"/>
          <a:lstStyle/>
          <a:p>
            <a:pPr algn="ctr" indent="0" marL="0">
              <a:lnSpc>
                <a:spcPct val="123000"/>
              </a:lnSpc>
              <a:buNone/>
            </a:pPr>
            <a:r>
              <a:rPr lang="en-US" sz="1050" dirty="0">
                <a:solidFill>
                  <a:srgbClr val="E0D6DE"/>
                </a:solidFill>
                <a:latin typeface="Noto Sans" pitchFamily="34" charset="0"/>
                <a:ea typeface="Noto Sans" pitchFamily="34" charset="-122"/>
                <a:cs typeface="Noto Sans" pitchFamily="34" charset="-120"/>
              </a:rPr>
              <a:t>6.9% to 15.1% accuracy difference range</a:t>
            </a:r>
            <a:endParaRPr lang="en-US" sz="1050" dirty="0"/>
          </a:p>
        </p:txBody>
      </p:sp>
      <p:sp>
        <p:nvSpPr>
          <p:cNvPr id="15" name="Text 13"/>
          <p:cNvSpPr/>
          <p:nvPr/>
        </p:nvSpPr>
        <p:spPr>
          <a:xfrm>
            <a:off x="661475" y="4036020"/>
            <a:ext cx="5264217" cy="217984"/>
          </a:xfrm>
          <a:prstGeom prst="rect">
            <a:avLst/>
          </a:prstGeom>
          <a:noFill/>
          <a:ln/>
        </p:spPr>
        <p:txBody>
          <a:bodyPr wrap="none" lIns="0" tIns="0" rIns="0" bIns="0" rtlCol="0" anchor="t"/>
          <a:lstStyle/>
          <a:p>
            <a:pPr algn="l" indent="0" marL="0">
              <a:lnSpc>
                <a:spcPct val="104000"/>
              </a:lnSpc>
              <a:buNone/>
            </a:pPr>
            <a:r>
              <a:rPr lang="en-US" sz="1350" dirty="0">
                <a:solidFill>
                  <a:srgbClr val="97B8FF"/>
                </a:solidFill>
                <a:latin typeface="Sora Medium" pitchFamily="34" charset="0"/>
                <a:ea typeface="Sora Medium" pitchFamily="34" charset="-122"/>
                <a:cs typeface="Sora Medium" pitchFamily="34" charset="-120"/>
              </a:rPr>
              <a:t>Decision</a:t>
            </a:r>
            <a:endParaRPr lang="en-US" sz="1350" dirty="0"/>
          </a:p>
        </p:txBody>
      </p:sp>
      <p:sp>
        <p:nvSpPr>
          <p:cNvPr id="16" name="Text 14"/>
          <p:cNvSpPr/>
          <p:nvPr/>
        </p:nvSpPr>
        <p:spPr>
          <a:xfrm>
            <a:off x="661475" y="4371677"/>
            <a:ext cx="5264217" cy="823516"/>
          </a:xfrm>
          <a:prstGeom prst="rect">
            <a:avLst/>
          </a:prstGeom>
          <a:noFill/>
          <a:ln/>
        </p:spPr>
        <p:txBody>
          <a:bodyPr wrap="square" lIns="0" tIns="0" rIns="0" bIns="0" rtlCol="0" anchor="t">
            <a:normAutofit/>
          </a:bodyPr>
          <a:lstStyle/>
          <a:p>
            <a:pPr algn="l" indent="0" marL="0">
              <a:lnSpc>
                <a:spcPct val="123000"/>
              </a:lnSpc>
              <a:buNone/>
            </a:pPr>
            <a:r>
              <a:rPr lang="en-US" sz="1050" b="1" dirty="0">
                <a:solidFill>
                  <a:srgbClr val="97B8FF"/>
                </a:solidFill>
                <a:latin typeface="Noto Sans Bold" pitchFamily="34" charset="0"/>
                <a:ea typeface="Noto Sans Bold" pitchFamily="34" charset="-122"/>
                <a:cs typeface="Noto Sans Bold" pitchFamily="34" charset="-120"/>
              </a:rPr>
              <a:t>Reject the null hypothesis.</a:t>
            </a:r>
            <a:pPr algn="l" indent="0" marL="0">
              <a:lnSpc>
                <a:spcPct val="123000"/>
              </a:lnSpc>
              <a:buNone/>
            </a:pPr>
            <a:r>
              <a:rPr lang="en-US" sz="1050" dirty="0">
                <a:solidFill>
                  <a:srgbClr val="E0D6DE"/>
                </a:solidFill>
                <a:latin typeface="Noto Sans" pitchFamily="34" charset="0"/>
                <a:ea typeface="Noto Sans" pitchFamily="34" charset="-122"/>
                <a:cs typeface="Noto Sans" pitchFamily="34" charset="-120"/>
              </a:rPr>
              <a:t> The difference in rule-based parsing accuracy between inflectional and derivational word forms is statistically significant at the 5% significance level. With a p-value of 0.0000004, the result is significant at the 0.01% level — providing overwhelming evidence against H₀.</a:t>
            </a:r>
            <a:endParaRPr lang="en-US" sz="1050" dirty="0"/>
          </a:p>
        </p:txBody>
      </p:sp>
      <p:sp>
        <p:nvSpPr>
          <p:cNvPr id="17" name="Text 15"/>
          <p:cNvSpPr/>
          <p:nvPr/>
        </p:nvSpPr>
        <p:spPr>
          <a:xfrm>
            <a:off x="6272353" y="4036020"/>
            <a:ext cx="5264217" cy="217984"/>
          </a:xfrm>
          <a:prstGeom prst="rect">
            <a:avLst/>
          </a:prstGeom>
          <a:noFill/>
          <a:ln/>
        </p:spPr>
        <p:txBody>
          <a:bodyPr wrap="none" lIns="0" tIns="0" rIns="0" bIns="0" rtlCol="0" anchor="t"/>
          <a:lstStyle/>
          <a:p>
            <a:pPr algn="l" indent="0" marL="0">
              <a:lnSpc>
                <a:spcPct val="104000"/>
              </a:lnSpc>
              <a:buNone/>
            </a:pPr>
            <a:r>
              <a:rPr lang="en-US" sz="1350" dirty="0">
                <a:solidFill>
                  <a:srgbClr val="97B8FF"/>
                </a:solidFill>
                <a:latin typeface="Sora Medium" pitchFamily="34" charset="0"/>
                <a:ea typeface="Sora Medium" pitchFamily="34" charset="-122"/>
                <a:cs typeface="Sora Medium" pitchFamily="34" charset="-120"/>
              </a:rPr>
              <a:t>Confidence Interval Interpretation</a:t>
            </a:r>
            <a:endParaRPr lang="en-US" sz="1350" dirty="0"/>
          </a:p>
        </p:txBody>
      </p:sp>
      <p:sp>
        <p:nvSpPr>
          <p:cNvPr id="18" name="Text 16"/>
          <p:cNvSpPr/>
          <p:nvPr/>
        </p:nvSpPr>
        <p:spPr>
          <a:xfrm>
            <a:off x="6272353" y="4371677"/>
            <a:ext cx="5264217" cy="1029395"/>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E0D6DE"/>
                </a:solidFill>
                <a:latin typeface="Noto Sans" pitchFamily="34" charset="0"/>
                <a:ea typeface="Noto Sans" pitchFamily="34" charset="-122"/>
                <a:cs typeface="Noto Sans" pitchFamily="34" charset="-120"/>
              </a:rPr>
              <a:t>The 95% confidence interval of </a:t>
            </a:r>
            <a:pPr algn="l" indent="0" marL="0">
              <a:lnSpc>
                <a:spcPct val="123000"/>
              </a:lnSpc>
              <a:buNone/>
            </a:pPr>
            <a:r>
              <a:rPr lang="en-US" sz="1050" b="1" dirty="0">
                <a:solidFill>
                  <a:srgbClr val="E0D6DE"/>
                </a:solidFill>
                <a:latin typeface="Noto Sans Bold" pitchFamily="34" charset="0"/>
                <a:ea typeface="Noto Sans Bold" pitchFamily="34" charset="-122"/>
                <a:cs typeface="Noto Sans Bold" pitchFamily="34" charset="-120"/>
              </a:rPr>
              <a:t>6.9% to 15.1%</a:t>
            </a:r>
            <a:pPr algn="l" indent="0" marL="0">
              <a:lnSpc>
                <a:spcPct val="123000"/>
              </a:lnSpc>
              <a:buNone/>
            </a:pPr>
            <a:r>
              <a:rPr lang="en-US" sz="1050" dirty="0">
                <a:solidFill>
                  <a:srgbClr val="E0D6DE"/>
                </a:solidFill>
                <a:latin typeface="Noto Sans" pitchFamily="34" charset="0"/>
                <a:ea typeface="Noto Sans" pitchFamily="34" charset="-122"/>
                <a:cs typeface="Noto Sans" pitchFamily="34" charset="-120"/>
              </a:rPr>
              <a:t> indicates that the true population-level accuracy gap between inflectional and derivational parsing lies within this range. Because the interval does not include zero, we can be confident the difference is real and practically meaningful, not a sampling artifact.</a:t>
            </a:r>
            <a:endParaRPr lang="en-US" sz="1050" dirty="0"/>
          </a:p>
        </p:txBody>
      </p:sp>
      <p:sp>
        <p:nvSpPr>
          <p:cNvPr id="19" name="Shape 17"/>
          <p:cNvSpPr/>
          <p:nvPr/>
        </p:nvSpPr>
        <p:spPr>
          <a:xfrm>
            <a:off x="661475" y="5639495"/>
            <a:ext cx="10868745" cy="705048"/>
          </a:xfrm>
          <a:prstGeom prst="roundRect">
            <a:avLst>
              <a:gd name="adj" fmla="val 2969"/>
            </a:avLst>
          </a:prstGeom>
          <a:solidFill>
            <a:srgbClr val="183A13"/>
          </a:solidFill>
          <a:ln/>
        </p:spPr>
      </p:sp>
      <p:pic>
        <p:nvPicPr>
          <p:cNvPr id="20" name="Image 0" descr="preencoded.png">    </p:cNvPr>
          <p:cNvPicPr>
            <a:picLocks noChangeAspect="1"/>
          </p:cNvPicPr>
          <p:nvPr/>
        </p:nvPicPr>
        <p:blipFill>
          <a:blip r:embed="rId1"/>
          <a:stretch>
            <a:fillRect/>
          </a:stretch>
        </p:blipFill>
        <p:spPr>
          <a:xfrm>
            <a:off x="800973" y="5809555"/>
            <a:ext cx="174422" cy="139502"/>
          </a:xfrm>
          <a:prstGeom prst="rect">
            <a:avLst/>
          </a:prstGeom>
        </p:spPr>
      </p:pic>
      <p:sp>
        <p:nvSpPr>
          <p:cNvPr id="21" name="Text 18"/>
          <p:cNvSpPr/>
          <p:nvPr/>
        </p:nvSpPr>
        <p:spPr>
          <a:xfrm>
            <a:off x="1114893" y="5791994"/>
            <a:ext cx="10275829" cy="411758"/>
          </a:xfrm>
          <a:prstGeom prst="rect">
            <a:avLst/>
          </a:prstGeom>
          <a:noFill/>
          <a:ln/>
        </p:spPr>
        <p:txBody>
          <a:bodyPr wrap="square" lIns="0" tIns="0" rIns="0" bIns="0" rtlCol="0" anchor="t">
            <a:normAutofit/>
          </a:bodyPr>
          <a:lstStyle/>
          <a:p>
            <a:pPr algn="l" indent="0" marL="0">
              <a:lnSpc>
                <a:spcPct val="123000"/>
              </a:lnSpc>
              <a:buNone/>
            </a:pPr>
            <a:r>
              <a:rPr lang="en-US" sz="1050" b="1" dirty="0">
                <a:solidFill>
                  <a:srgbClr val="FFFFFF"/>
                </a:solidFill>
                <a:latin typeface="Noto Sans Bold" pitchFamily="34" charset="0"/>
                <a:ea typeface="Noto Sans Bold" pitchFamily="34" charset="-122"/>
                <a:cs typeface="Noto Sans Bold" pitchFamily="34" charset="-120"/>
              </a:rPr>
              <a:t>Conclusion:</a:t>
            </a:r>
            <a:pPr algn="l" indent="0" marL="0">
              <a:lnSpc>
                <a:spcPct val="123000"/>
              </a:lnSpc>
              <a:buNone/>
            </a:pPr>
            <a:r>
              <a:rPr lang="en-US" sz="1050" dirty="0">
                <a:solidFill>
                  <a:srgbClr val="FFFFFF"/>
                </a:solidFill>
                <a:latin typeface="Noto Sans" pitchFamily="34" charset="0"/>
                <a:ea typeface="Noto Sans" pitchFamily="34" charset="-122"/>
                <a:cs typeface="Noto Sans" pitchFamily="34" charset="-120"/>
              </a:rPr>
              <a:t> The rule-based system's superior performance on inflectional forms is not due to chance. The structural regularity of inflectional morphology provides a genuine parsing advantage that is statistically confirmed.</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26951"/>
            <a:ext cx="10868745" cy="436066"/>
          </a:xfrm>
          <a:prstGeom prst="rect">
            <a:avLst/>
          </a:prstGeom>
          <a:noFill/>
          <a:ln/>
        </p:spPr>
        <p:txBody>
          <a:bodyPr wrap="none" lIns="0" tIns="0" rIns="0" bIns="0" rtlCol="0" anchor="t"/>
          <a:lstStyle/>
          <a:p>
            <a:pPr algn="l" indent="0" marL="0">
              <a:lnSpc>
                <a:spcPct val="104000"/>
              </a:lnSpc>
              <a:buNone/>
            </a:pPr>
            <a:r>
              <a:rPr lang="en-US" sz="2700" dirty="0">
                <a:solidFill>
                  <a:srgbClr val="97B8FF"/>
                </a:solidFill>
                <a:latin typeface="Sora Medium" pitchFamily="34" charset="0"/>
                <a:ea typeface="Sora Medium" pitchFamily="34" charset="-122"/>
                <a:cs typeface="Sora Medium" pitchFamily="34" charset="-120"/>
              </a:rPr>
              <a:t>Key Findings &amp; Recommendations</a:t>
            </a:r>
            <a:endParaRPr lang="en-US" sz="2700" dirty="0"/>
          </a:p>
        </p:txBody>
      </p:sp>
      <p:sp>
        <p:nvSpPr>
          <p:cNvPr id="3" name="Text 1"/>
          <p:cNvSpPr/>
          <p:nvPr/>
        </p:nvSpPr>
        <p:spPr>
          <a:xfrm>
            <a:off x="661475" y="1257300"/>
            <a:ext cx="4703744" cy="217984"/>
          </a:xfrm>
          <a:prstGeom prst="rect">
            <a:avLst/>
          </a:prstGeom>
          <a:noFill/>
          <a:ln/>
        </p:spPr>
        <p:txBody>
          <a:bodyPr wrap="none" lIns="0" tIns="0" rIns="0" bIns="0" rtlCol="0" anchor="t"/>
          <a:lstStyle/>
          <a:p>
            <a:pPr algn="l" indent="0" marL="0">
              <a:lnSpc>
                <a:spcPct val="104000"/>
              </a:lnSpc>
              <a:buNone/>
            </a:pPr>
            <a:r>
              <a:rPr lang="en-US" sz="1350" dirty="0">
                <a:solidFill>
                  <a:srgbClr val="97B8FF"/>
                </a:solidFill>
                <a:latin typeface="Sora Medium" pitchFamily="34" charset="0"/>
                <a:ea typeface="Sora Medium" pitchFamily="34" charset="-122"/>
                <a:cs typeface="Sora Medium" pitchFamily="34" charset="-120"/>
              </a:rPr>
              <a:t>Core Findings</a:t>
            </a:r>
            <a:endParaRPr lang="en-US" sz="13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607741"/>
            <a:ext cx="4703744" cy="1270397"/>
          </a:xfrm>
          <a:prstGeom prst="rect">
            <a:avLst/>
          </a:prstGeom>
        </p:spPr>
      </p:pic>
      <p:sp>
        <p:nvSpPr>
          <p:cNvPr id="5" name="Text 2"/>
          <p:cNvSpPr/>
          <p:nvPr/>
        </p:nvSpPr>
        <p:spPr>
          <a:xfrm>
            <a:off x="896221" y="1766292"/>
            <a:ext cx="4310451" cy="217984"/>
          </a:xfrm>
          <a:prstGeom prst="rect">
            <a:avLst/>
          </a:prstGeom>
          <a:noFill/>
          <a:ln/>
        </p:spPr>
        <p:txBody>
          <a:bodyPr wrap="none" lIns="0" tIns="0" rIns="0" bIns="0" rtlCol="0" anchor="t"/>
          <a:lstStyle/>
          <a:p>
            <a:pPr algn="l" indent="0" marL="0">
              <a:lnSpc>
                <a:spcPct val="104000"/>
              </a:lnSpc>
              <a:buNone/>
            </a:pPr>
            <a:r>
              <a:rPr lang="en-US" sz="1350" dirty="0">
                <a:solidFill>
                  <a:srgbClr val="E0D6DE"/>
                </a:solidFill>
                <a:latin typeface="Sora Medium" pitchFamily="34" charset="0"/>
                <a:ea typeface="Sora Medium" pitchFamily="34" charset="-122"/>
                <a:cs typeface="Sora Medium" pitchFamily="34" charset="-120"/>
              </a:rPr>
              <a:t>Accuracy Gap Confirmed</a:t>
            </a:r>
            <a:endParaRPr lang="en-US" sz="1350" dirty="0"/>
          </a:p>
        </p:txBody>
      </p:sp>
      <p:sp>
        <p:nvSpPr>
          <p:cNvPr id="6" name="Text 3"/>
          <p:cNvSpPr/>
          <p:nvPr/>
        </p:nvSpPr>
        <p:spPr>
          <a:xfrm>
            <a:off x="896221" y="2101949"/>
            <a:ext cx="4310451" cy="617637"/>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E0D6DE"/>
                </a:solidFill>
                <a:latin typeface="Noto Sans" pitchFamily="34" charset="0"/>
                <a:ea typeface="Noto Sans" pitchFamily="34" charset="-122"/>
                <a:cs typeface="Noto Sans" pitchFamily="34" charset="-120"/>
              </a:rPr>
              <a:t>Inflectional 92.0% vs. Derivational 81.0% — an </a:t>
            </a:r>
            <a:pPr algn="l" indent="0" marL="0">
              <a:lnSpc>
                <a:spcPct val="123000"/>
              </a:lnSpc>
              <a:buNone/>
            </a:pPr>
            <a:r>
              <a:rPr lang="en-US" sz="1050" b="1" dirty="0">
                <a:solidFill>
                  <a:srgbClr val="E0D6DE"/>
                </a:solidFill>
                <a:latin typeface="Noto Sans Bold" pitchFamily="34" charset="0"/>
                <a:ea typeface="Noto Sans Bold" pitchFamily="34" charset="-122"/>
                <a:cs typeface="Noto Sans Bold" pitchFamily="34" charset="-120"/>
              </a:rPr>
              <a:t>11.0 percentage point gap</a:t>
            </a:r>
            <a:pPr algn="l" indent="0" marL="0">
              <a:lnSpc>
                <a:spcPct val="123000"/>
              </a:lnSpc>
              <a:buNone/>
            </a:pPr>
            <a:r>
              <a:rPr lang="en-US" sz="1050" dirty="0">
                <a:solidFill>
                  <a:srgbClr val="E0D6DE"/>
                </a:solidFill>
                <a:latin typeface="Noto Sans" pitchFamily="34" charset="0"/>
                <a:ea typeface="Noto Sans" pitchFamily="34" charset="-122"/>
                <a:cs typeface="Noto Sans" pitchFamily="34" charset="-120"/>
              </a:rPr>
              <a:t> that is statistically significant at p &lt; 0.0001 with a 95% CI of 6.9%–15.1%.</a:t>
            </a:r>
            <a:endParaRPr lang="en-US" sz="10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2995811"/>
            <a:ext cx="4703744" cy="1270397"/>
          </a:xfrm>
          <a:prstGeom prst="rect">
            <a:avLst/>
          </a:prstGeom>
        </p:spPr>
      </p:pic>
      <p:sp>
        <p:nvSpPr>
          <p:cNvPr id="8" name="Text 4"/>
          <p:cNvSpPr/>
          <p:nvPr/>
        </p:nvSpPr>
        <p:spPr>
          <a:xfrm>
            <a:off x="896221" y="3154363"/>
            <a:ext cx="4310451" cy="217984"/>
          </a:xfrm>
          <a:prstGeom prst="rect">
            <a:avLst/>
          </a:prstGeom>
          <a:noFill/>
          <a:ln/>
        </p:spPr>
        <p:txBody>
          <a:bodyPr wrap="none" lIns="0" tIns="0" rIns="0" bIns="0" rtlCol="0" anchor="t"/>
          <a:lstStyle/>
          <a:p>
            <a:pPr algn="l" indent="0" marL="0">
              <a:lnSpc>
                <a:spcPct val="104000"/>
              </a:lnSpc>
              <a:buNone/>
            </a:pPr>
            <a:r>
              <a:rPr lang="en-US" sz="1350" dirty="0">
                <a:solidFill>
                  <a:srgbClr val="E0D6DE"/>
                </a:solidFill>
                <a:latin typeface="Sora Medium" pitchFamily="34" charset="0"/>
                <a:ea typeface="Sora Medium" pitchFamily="34" charset="-122"/>
                <a:cs typeface="Sora Medium" pitchFamily="34" charset="-120"/>
              </a:rPr>
              <a:t>POS Change as Key Driver</a:t>
            </a:r>
            <a:endParaRPr lang="en-US" sz="1350" dirty="0"/>
          </a:p>
        </p:txBody>
      </p:sp>
      <p:sp>
        <p:nvSpPr>
          <p:cNvPr id="9" name="Text 5"/>
          <p:cNvSpPr/>
          <p:nvPr/>
        </p:nvSpPr>
        <p:spPr>
          <a:xfrm>
            <a:off x="896221" y="3490020"/>
            <a:ext cx="4310451" cy="617637"/>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E0D6DE"/>
                </a:solidFill>
                <a:latin typeface="Noto Sans" pitchFamily="34" charset="0"/>
                <a:ea typeface="Noto Sans" pitchFamily="34" charset="-122"/>
                <a:cs typeface="Noto Sans" pitchFamily="34" charset="-120"/>
              </a:rPr>
              <a:t>Derivational affixes change part of speech in </a:t>
            </a:r>
            <a:pPr algn="l" indent="0" marL="0">
              <a:lnSpc>
                <a:spcPct val="123000"/>
              </a:lnSpc>
              <a:buNone/>
            </a:pPr>
            <a:r>
              <a:rPr lang="en-US" sz="1050" b="1" dirty="0">
                <a:solidFill>
                  <a:srgbClr val="E0D6DE"/>
                </a:solidFill>
                <a:latin typeface="Noto Sans Bold" pitchFamily="34" charset="0"/>
                <a:ea typeface="Noto Sans Bold" pitchFamily="34" charset="-122"/>
                <a:cs typeface="Noto Sans Bold" pitchFamily="34" charset="-120"/>
              </a:rPr>
              <a:t>78% of cases</a:t>
            </a:r>
            <a:pPr algn="l" indent="0" marL="0">
              <a:lnSpc>
                <a:spcPct val="123000"/>
              </a:lnSpc>
              <a:buNone/>
            </a:pPr>
            <a:r>
              <a:rPr lang="en-US" sz="1050" dirty="0">
                <a:solidFill>
                  <a:srgbClr val="E0D6DE"/>
                </a:solidFill>
                <a:latin typeface="Noto Sans" pitchFamily="34" charset="0"/>
                <a:ea typeface="Noto Sans" pitchFamily="34" charset="-122"/>
                <a:cs typeface="Noto Sans" pitchFamily="34" charset="-120"/>
              </a:rPr>
              <a:t> vs. only 4% for inflectional affixes — the primary source of rule-based system failure.</a:t>
            </a:r>
            <a:endParaRPr lang="en-US" sz="10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383881"/>
            <a:ext cx="4703744" cy="1270397"/>
          </a:xfrm>
          <a:prstGeom prst="rect">
            <a:avLst/>
          </a:prstGeom>
        </p:spPr>
      </p:pic>
      <p:sp>
        <p:nvSpPr>
          <p:cNvPr id="11" name="Text 6"/>
          <p:cNvSpPr/>
          <p:nvPr/>
        </p:nvSpPr>
        <p:spPr>
          <a:xfrm>
            <a:off x="896221" y="4542433"/>
            <a:ext cx="4310451" cy="217984"/>
          </a:xfrm>
          <a:prstGeom prst="rect">
            <a:avLst/>
          </a:prstGeom>
          <a:noFill/>
          <a:ln/>
        </p:spPr>
        <p:txBody>
          <a:bodyPr wrap="none" lIns="0" tIns="0" rIns="0" bIns="0" rtlCol="0" anchor="t"/>
          <a:lstStyle/>
          <a:p>
            <a:pPr algn="l" indent="0" marL="0">
              <a:lnSpc>
                <a:spcPct val="104000"/>
              </a:lnSpc>
              <a:buNone/>
            </a:pPr>
            <a:r>
              <a:rPr lang="en-US" sz="1350" dirty="0">
                <a:solidFill>
                  <a:srgbClr val="E0D6DE"/>
                </a:solidFill>
                <a:latin typeface="Sora Medium" pitchFamily="34" charset="0"/>
                <a:ea typeface="Sora Medium" pitchFamily="34" charset="-122"/>
                <a:cs typeface="Sora Medium" pitchFamily="34" charset="-120"/>
              </a:rPr>
              <a:t>Formation Process Hierarchy</a:t>
            </a:r>
            <a:endParaRPr lang="en-US" sz="1350" dirty="0"/>
          </a:p>
        </p:txBody>
      </p:sp>
      <p:sp>
        <p:nvSpPr>
          <p:cNvPr id="12" name="Text 7"/>
          <p:cNvSpPr/>
          <p:nvPr/>
        </p:nvSpPr>
        <p:spPr>
          <a:xfrm>
            <a:off x="896221" y="4878090"/>
            <a:ext cx="4310451" cy="617637"/>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E0D6DE"/>
                </a:solidFill>
                <a:latin typeface="Noto Sans" pitchFamily="34" charset="0"/>
                <a:ea typeface="Noto Sans" pitchFamily="34" charset="-122"/>
                <a:cs typeface="Noto Sans" pitchFamily="34" charset="-120"/>
              </a:rPr>
              <a:t>Accuracy declines from suffixation (93%) through prefixation (79%) and compounding (74%) to zero-derivation (68%), reflecting increasing rule complexity.</a:t>
            </a:r>
            <a:endParaRPr lang="en-US" sz="1050" dirty="0"/>
          </a:p>
        </p:txBody>
      </p:sp>
      <p:sp>
        <p:nvSpPr>
          <p:cNvPr id="13" name="Text 8"/>
          <p:cNvSpPr/>
          <p:nvPr/>
        </p:nvSpPr>
        <p:spPr>
          <a:xfrm>
            <a:off x="5711881" y="1257300"/>
            <a:ext cx="5824590" cy="217984"/>
          </a:xfrm>
          <a:prstGeom prst="rect">
            <a:avLst/>
          </a:prstGeom>
          <a:noFill/>
          <a:ln/>
        </p:spPr>
        <p:txBody>
          <a:bodyPr wrap="none" lIns="0" tIns="0" rIns="0" bIns="0" rtlCol="0" anchor="t"/>
          <a:lstStyle/>
          <a:p>
            <a:pPr algn="l" indent="0" marL="0">
              <a:lnSpc>
                <a:spcPct val="104000"/>
              </a:lnSpc>
              <a:buNone/>
            </a:pPr>
            <a:r>
              <a:rPr lang="en-US" sz="1350" dirty="0">
                <a:solidFill>
                  <a:srgbClr val="97B8FF"/>
                </a:solidFill>
                <a:latin typeface="Sora Medium" pitchFamily="34" charset="0"/>
                <a:ea typeface="Sora Medium" pitchFamily="34" charset="-122"/>
                <a:cs typeface="Sora Medium" pitchFamily="34" charset="-120"/>
              </a:rPr>
              <a:t>Recommendations for System Improvement</a:t>
            </a:r>
            <a:endParaRPr lang="en-US" sz="1350" dirty="0"/>
          </a:p>
        </p:txBody>
      </p:sp>
      <p:sp>
        <p:nvSpPr>
          <p:cNvPr id="14" name="Shape 9"/>
          <p:cNvSpPr/>
          <p:nvPr/>
        </p:nvSpPr>
        <p:spPr>
          <a:xfrm>
            <a:off x="5711881" y="1607741"/>
            <a:ext cx="313920" cy="313928"/>
          </a:xfrm>
          <a:prstGeom prst="roundRect">
            <a:avLst>
              <a:gd name="adj" fmla="val 6668"/>
            </a:avLst>
          </a:prstGeom>
          <a:solidFill>
            <a:srgbClr val="26262B"/>
          </a:solidFill>
          <a:ln/>
        </p:spPr>
      </p:sp>
      <p:sp>
        <p:nvSpPr>
          <p:cNvPr id="15" name="Text 10"/>
          <p:cNvSpPr/>
          <p:nvPr/>
        </p:nvSpPr>
        <p:spPr>
          <a:xfrm>
            <a:off x="5764217" y="1633885"/>
            <a:ext cx="209247" cy="261640"/>
          </a:xfrm>
          <a:prstGeom prst="rect">
            <a:avLst/>
          </a:prstGeom>
          <a:noFill/>
          <a:ln/>
        </p:spPr>
        <p:txBody>
          <a:bodyPr wrap="none" lIns="0" tIns="0" rIns="0" bIns="0" rtlCol="0" anchor="ctr"/>
          <a:lstStyle/>
          <a:p>
            <a:pPr algn="ctr" indent="0" marL="0">
              <a:lnSpc>
                <a:spcPct val="100000"/>
              </a:lnSpc>
              <a:buNone/>
            </a:pPr>
            <a:r>
              <a:rPr lang="en-US" sz="1600" dirty="0">
                <a:solidFill>
                  <a:srgbClr val="E0D6DE"/>
                </a:solidFill>
                <a:latin typeface="Sora Medium" pitchFamily="34" charset="0"/>
                <a:ea typeface="Sora Medium" pitchFamily="34" charset="-122"/>
                <a:cs typeface="Sora Medium" pitchFamily="34" charset="-120"/>
              </a:rPr>
              <a:t>1</a:t>
            </a:r>
            <a:endParaRPr lang="en-US" sz="1600" dirty="0"/>
          </a:p>
        </p:txBody>
      </p:sp>
      <p:sp>
        <p:nvSpPr>
          <p:cNvPr id="16" name="Text 11"/>
          <p:cNvSpPr/>
          <p:nvPr/>
        </p:nvSpPr>
        <p:spPr>
          <a:xfrm>
            <a:off x="6143471" y="1655663"/>
            <a:ext cx="5392999" cy="217984"/>
          </a:xfrm>
          <a:prstGeom prst="rect">
            <a:avLst/>
          </a:prstGeom>
          <a:noFill/>
          <a:ln/>
        </p:spPr>
        <p:txBody>
          <a:bodyPr wrap="none" lIns="0" tIns="0" rIns="0" bIns="0" rtlCol="0" anchor="t"/>
          <a:lstStyle/>
          <a:p>
            <a:pPr algn="l" indent="0" marL="0">
              <a:lnSpc>
                <a:spcPct val="104000"/>
              </a:lnSpc>
              <a:buNone/>
            </a:pPr>
            <a:r>
              <a:rPr lang="en-US" sz="1350" dirty="0">
                <a:solidFill>
                  <a:srgbClr val="E0D6DE"/>
                </a:solidFill>
                <a:latin typeface="Sora Medium" pitchFamily="34" charset="0"/>
                <a:ea typeface="Sora Medium" pitchFamily="34" charset="-122"/>
                <a:cs typeface="Sora Medium" pitchFamily="34" charset="-120"/>
              </a:rPr>
              <a:t>Expand Derivational Affix Dictionary</a:t>
            </a:r>
            <a:endParaRPr lang="en-US" sz="1350" dirty="0"/>
          </a:p>
        </p:txBody>
      </p:sp>
      <p:sp>
        <p:nvSpPr>
          <p:cNvPr id="17" name="Text 12"/>
          <p:cNvSpPr/>
          <p:nvPr/>
        </p:nvSpPr>
        <p:spPr>
          <a:xfrm>
            <a:off x="6143471" y="1991320"/>
            <a:ext cx="5392999" cy="411758"/>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E0D6DE"/>
                </a:solidFill>
                <a:latin typeface="Noto Sans" pitchFamily="34" charset="0"/>
                <a:ea typeface="Noto Sans" pitchFamily="34" charset="-122"/>
                <a:cs typeface="Noto Sans" pitchFamily="34" charset="-120"/>
              </a:rPr>
              <a:t>Systematically catalogue derivational affixes with their associated POS transformation rules to improve coverage of the 81% baseline.</a:t>
            </a:r>
            <a:endParaRPr lang="en-US" sz="1050" dirty="0"/>
          </a:p>
        </p:txBody>
      </p:sp>
      <p:sp>
        <p:nvSpPr>
          <p:cNvPr id="18" name="Shape 13"/>
          <p:cNvSpPr/>
          <p:nvPr/>
        </p:nvSpPr>
        <p:spPr>
          <a:xfrm>
            <a:off x="5711881" y="2638524"/>
            <a:ext cx="313920" cy="313928"/>
          </a:xfrm>
          <a:prstGeom prst="roundRect">
            <a:avLst>
              <a:gd name="adj" fmla="val 6668"/>
            </a:avLst>
          </a:prstGeom>
          <a:solidFill>
            <a:srgbClr val="26262B"/>
          </a:solidFill>
          <a:ln/>
        </p:spPr>
      </p:sp>
      <p:sp>
        <p:nvSpPr>
          <p:cNvPr id="19" name="Text 14"/>
          <p:cNvSpPr/>
          <p:nvPr/>
        </p:nvSpPr>
        <p:spPr>
          <a:xfrm>
            <a:off x="5764217" y="2664668"/>
            <a:ext cx="209247" cy="261640"/>
          </a:xfrm>
          <a:prstGeom prst="rect">
            <a:avLst/>
          </a:prstGeom>
          <a:noFill/>
          <a:ln/>
        </p:spPr>
        <p:txBody>
          <a:bodyPr wrap="none" lIns="0" tIns="0" rIns="0" bIns="0" rtlCol="0" anchor="ctr"/>
          <a:lstStyle/>
          <a:p>
            <a:pPr algn="ctr" indent="0" marL="0">
              <a:lnSpc>
                <a:spcPct val="100000"/>
              </a:lnSpc>
              <a:buNone/>
            </a:pPr>
            <a:r>
              <a:rPr lang="en-US" sz="1600" dirty="0">
                <a:solidFill>
                  <a:srgbClr val="E0D6DE"/>
                </a:solidFill>
                <a:latin typeface="Sora Medium" pitchFamily="34" charset="0"/>
                <a:ea typeface="Sora Medium" pitchFamily="34" charset="-122"/>
                <a:cs typeface="Sora Medium" pitchFamily="34" charset="-120"/>
              </a:rPr>
              <a:t>2</a:t>
            </a:r>
            <a:endParaRPr lang="en-US" sz="1600" dirty="0"/>
          </a:p>
        </p:txBody>
      </p:sp>
      <p:sp>
        <p:nvSpPr>
          <p:cNvPr id="20" name="Text 15"/>
          <p:cNvSpPr/>
          <p:nvPr/>
        </p:nvSpPr>
        <p:spPr>
          <a:xfrm>
            <a:off x="6143471" y="2686447"/>
            <a:ext cx="5392999" cy="217984"/>
          </a:xfrm>
          <a:prstGeom prst="rect">
            <a:avLst/>
          </a:prstGeom>
          <a:noFill/>
          <a:ln/>
        </p:spPr>
        <p:txBody>
          <a:bodyPr wrap="none" lIns="0" tIns="0" rIns="0" bIns="0" rtlCol="0" anchor="t"/>
          <a:lstStyle/>
          <a:p>
            <a:pPr algn="l" indent="0" marL="0">
              <a:lnSpc>
                <a:spcPct val="104000"/>
              </a:lnSpc>
              <a:buNone/>
            </a:pPr>
            <a:r>
              <a:rPr lang="en-US" sz="1350" dirty="0">
                <a:solidFill>
                  <a:srgbClr val="E0D6DE"/>
                </a:solidFill>
                <a:latin typeface="Sora Medium" pitchFamily="34" charset="0"/>
                <a:ea typeface="Sora Medium" pitchFamily="34" charset="-122"/>
                <a:cs typeface="Sora Medium" pitchFamily="34" charset="-120"/>
              </a:rPr>
              <a:t>Introduce POS-Aware Rules</a:t>
            </a:r>
            <a:endParaRPr lang="en-US" sz="1350" dirty="0"/>
          </a:p>
        </p:txBody>
      </p:sp>
      <p:sp>
        <p:nvSpPr>
          <p:cNvPr id="21" name="Text 16"/>
          <p:cNvSpPr/>
          <p:nvPr/>
        </p:nvSpPr>
        <p:spPr>
          <a:xfrm>
            <a:off x="6143471" y="3022104"/>
            <a:ext cx="5392999" cy="411758"/>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E0D6DE"/>
                </a:solidFill>
                <a:latin typeface="Noto Sans" pitchFamily="34" charset="0"/>
                <a:ea typeface="Noto Sans" pitchFamily="34" charset="-122"/>
                <a:cs typeface="Noto Sans" pitchFamily="34" charset="-120"/>
              </a:rPr>
              <a:t>Incorporate part-of-speech context into the parsing pipeline so that affix rules are conditioned on the syntactic category of the base word.</a:t>
            </a:r>
            <a:endParaRPr lang="en-US" sz="1050" dirty="0"/>
          </a:p>
        </p:txBody>
      </p:sp>
      <p:sp>
        <p:nvSpPr>
          <p:cNvPr id="22" name="Shape 17"/>
          <p:cNvSpPr/>
          <p:nvPr/>
        </p:nvSpPr>
        <p:spPr>
          <a:xfrm>
            <a:off x="5711881" y="3669308"/>
            <a:ext cx="313920" cy="313928"/>
          </a:xfrm>
          <a:prstGeom prst="roundRect">
            <a:avLst>
              <a:gd name="adj" fmla="val 6668"/>
            </a:avLst>
          </a:prstGeom>
          <a:solidFill>
            <a:srgbClr val="26262B"/>
          </a:solidFill>
          <a:ln/>
        </p:spPr>
      </p:sp>
      <p:sp>
        <p:nvSpPr>
          <p:cNvPr id="23" name="Text 18"/>
          <p:cNvSpPr/>
          <p:nvPr/>
        </p:nvSpPr>
        <p:spPr>
          <a:xfrm>
            <a:off x="5764217" y="3695452"/>
            <a:ext cx="209247" cy="261640"/>
          </a:xfrm>
          <a:prstGeom prst="rect">
            <a:avLst/>
          </a:prstGeom>
          <a:noFill/>
          <a:ln/>
        </p:spPr>
        <p:txBody>
          <a:bodyPr wrap="none" lIns="0" tIns="0" rIns="0" bIns="0" rtlCol="0" anchor="ctr"/>
          <a:lstStyle/>
          <a:p>
            <a:pPr algn="ctr" indent="0" marL="0">
              <a:lnSpc>
                <a:spcPct val="100000"/>
              </a:lnSpc>
              <a:buNone/>
            </a:pPr>
            <a:r>
              <a:rPr lang="en-US" sz="1600" dirty="0">
                <a:solidFill>
                  <a:srgbClr val="E0D6DE"/>
                </a:solidFill>
                <a:latin typeface="Sora Medium" pitchFamily="34" charset="0"/>
                <a:ea typeface="Sora Medium" pitchFamily="34" charset="-122"/>
                <a:cs typeface="Sora Medium" pitchFamily="34" charset="-120"/>
              </a:rPr>
              <a:t>3</a:t>
            </a:r>
            <a:endParaRPr lang="en-US" sz="1600" dirty="0"/>
          </a:p>
        </p:txBody>
      </p:sp>
      <p:sp>
        <p:nvSpPr>
          <p:cNvPr id="24" name="Text 19"/>
          <p:cNvSpPr/>
          <p:nvPr/>
        </p:nvSpPr>
        <p:spPr>
          <a:xfrm>
            <a:off x="6143471" y="3717230"/>
            <a:ext cx="5392999" cy="217984"/>
          </a:xfrm>
          <a:prstGeom prst="rect">
            <a:avLst/>
          </a:prstGeom>
          <a:noFill/>
          <a:ln/>
        </p:spPr>
        <p:txBody>
          <a:bodyPr wrap="none" lIns="0" tIns="0" rIns="0" bIns="0" rtlCol="0" anchor="t"/>
          <a:lstStyle/>
          <a:p>
            <a:pPr algn="l" indent="0" marL="0">
              <a:lnSpc>
                <a:spcPct val="104000"/>
              </a:lnSpc>
              <a:buNone/>
            </a:pPr>
            <a:r>
              <a:rPr lang="en-US" sz="1350" dirty="0">
                <a:solidFill>
                  <a:srgbClr val="E0D6DE"/>
                </a:solidFill>
                <a:latin typeface="Sora Medium" pitchFamily="34" charset="0"/>
                <a:ea typeface="Sora Medium" pitchFamily="34" charset="-122"/>
                <a:cs typeface="Sora Medium" pitchFamily="34" charset="-120"/>
              </a:rPr>
              <a:t>Neural Morphological Segmentation</a:t>
            </a:r>
            <a:endParaRPr lang="en-US" sz="1350" dirty="0"/>
          </a:p>
        </p:txBody>
      </p:sp>
      <p:sp>
        <p:nvSpPr>
          <p:cNvPr id="25" name="Text 20"/>
          <p:cNvSpPr/>
          <p:nvPr/>
        </p:nvSpPr>
        <p:spPr>
          <a:xfrm>
            <a:off x="6143471" y="4052888"/>
            <a:ext cx="5392999" cy="617637"/>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E0D6DE"/>
                </a:solidFill>
                <a:latin typeface="Noto Sans" pitchFamily="34" charset="0"/>
                <a:ea typeface="Noto Sans" pitchFamily="34" charset="-122"/>
                <a:cs typeface="Noto Sans" pitchFamily="34" charset="-120"/>
              </a:rPr>
              <a:t>For low-accuracy categories — particularly zero-derivation (68%) and compounding (74%) — integrate neural segmentation models to handle irregular and context-sensitive patterns beyond rule-based reach.</a:t>
            </a:r>
            <a:endParaRPr lang="en-US" sz="1050" dirty="0"/>
          </a:p>
        </p:txBody>
      </p:sp>
      <p:sp>
        <p:nvSpPr>
          <p:cNvPr id="26" name="Text 21"/>
          <p:cNvSpPr/>
          <p:nvPr/>
        </p:nvSpPr>
        <p:spPr>
          <a:xfrm>
            <a:off x="661475" y="5919192"/>
            <a:ext cx="10868745" cy="411758"/>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E0D6DE"/>
                </a:solidFill>
                <a:latin typeface="Noto Sans" pitchFamily="34" charset="0"/>
                <a:ea typeface="Noto Sans" pitchFamily="34" charset="-122"/>
                <a:cs typeface="Noto Sans" pitchFamily="34" charset="-120"/>
              </a:rPr>
              <a:t>The rule-based analyzer performs reliably on inflectional forms but requires further development for derivational morphology due to structural complexity and irregular patterns. A hybrid approach combining rule-based and neural methods is the recommended path forward.</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2545358"/>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97B8FF"/>
                </a:solidFill>
                <a:latin typeface="Sora Medium" pitchFamily="34" charset="0"/>
                <a:ea typeface="Sora Medium" pitchFamily="34" charset="-122"/>
                <a:cs typeface="Sora Medium" pitchFamily="34" charset="-120"/>
              </a:rPr>
              <a:t>Student Information</a:t>
            </a:r>
            <a:endParaRPr lang="en-US" sz="3250" dirty="0"/>
          </a:p>
        </p:txBody>
      </p:sp>
      <p:sp>
        <p:nvSpPr>
          <p:cNvPr id="3" name="Text 1"/>
          <p:cNvSpPr/>
          <p:nvPr/>
        </p:nvSpPr>
        <p:spPr>
          <a:xfrm>
            <a:off x="661475" y="3475434"/>
            <a:ext cx="3316304" cy="258465"/>
          </a:xfrm>
          <a:prstGeom prst="rect">
            <a:avLst/>
          </a:prstGeom>
          <a:noFill/>
          <a:ln/>
        </p:spPr>
        <p:txBody>
          <a:bodyPr wrap="none" lIns="0" tIns="0" rIns="0" bIns="0" rtlCol="0" anchor="t"/>
          <a:lstStyle/>
          <a:p>
            <a:pPr algn="l" indent="0" marL="0">
              <a:lnSpc>
                <a:spcPct val="104000"/>
              </a:lnSpc>
              <a:buNone/>
            </a:pPr>
            <a:r>
              <a:rPr lang="en-US" sz="1600" dirty="0">
                <a:solidFill>
                  <a:srgbClr val="97B8FF"/>
                </a:solidFill>
                <a:latin typeface="Sora Medium" pitchFamily="34" charset="0"/>
                <a:ea typeface="Sora Medium" pitchFamily="34" charset="-122"/>
                <a:cs typeface="Sora Medium" pitchFamily="34" charset="-120"/>
              </a:rPr>
              <a:t>Name</a:t>
            </a:r>
            <a:endParaRPr lang="en-US" sz="1600" dirty="0"/>
          </a:p>
        </p:txBody>
      </p:sp>
      <p:sp>
        <p:nvSpPr>
          <p:cNvPr id="4" name="Text 2"/>
          <p:cNvSpPr/>
          <p:nvPr/>
        </p:nvSpPr>
        <p:spPr>
          <a:xfrm>
            <a:off x="661475" y="3899198"/>
            <a:ext cx="3925889" cy="264616"/>
          </a:xfrm>
          <a:prstGeom prst="rect">
            <a:avLst/>
          </a:prstGeom>
          <a:noFill/>
          <a:ln/>
        </p:spPr>
        <p:txBody>
          <a:bodyPr wrap="none" lIns="0" tIns="0" rIns="0" bIns="0" rtlCol="0" anchor="t"/>
          <a:lstStyle/>
          <a:p>
            <a:pPr algn="l" indent="0" marL="0">
              <a:lnSpc>
                <a:spcPct val="133000"/>
              </a:lnSpc>
              <a:buNone/>
            </a:pPr>
            <a:r>
              <a:rPr lang="en-US" sz="1300" dirty="0">
                <a:solidFill>
                  <a:srgbClr val="E0D6DE"/>
                </a:solidFill>
                <a:latin typeface="Noto Sans" pitchFamily="34" charset="0"/>
                <a:ea typeface="Noto Sans" pitchFamily="34" charset="-122"/>
                <a:cs typeface="Noto Sans" pitchFamily="34" charset="-120"/>
              </a:rPr>
              <a:t>ROHITH</a:t>
            </a:r>
            <a:endParaRPr lang="en-US" sz="1300" dirty="0"/>
          </a:p>
        </p:txBody>
      </p:sp>
      <p:sp>
        <p:nvSpPr>
          <p:cNvPr id="5" name="Text 3"/>
          <p:cNvSpPr/>
          <p:nvPr/>
        </p:nvSpPr>
        <p:spPr>
          <a:xfrm>
            <a:off x="4387542" y="3475434"/>
            <a:ext cx="3316304" cy="258465"/>
          </a:xfrm>
          <a:prstGeom prst="rect">
            <a:avLst/>
          </a:prstGeom>
          <a:noFill/>
          <a:ln/>
        </p:spPr>
        <p:txBody>
          <a:bodyPr wrap="none" lIns="0" tIns="0" rIns="0" bIns="0" rtlCol="0" anchor="t"/>
          <a:lstStyle/>
          <a:p>
            <a:pPr algn="l" indent="0" marL="0">
              <a:lnSpc>
                <a:spcPct val="104000"/>
              </a:lnSpc>
              <a:buNone/>
            </a:pPr>
            <a:r>
              <a:rPr lang="en-US" sz="1600" dirty="0">
                <a:solidFill>
                  <a:srgbClr val="97B8FF"/>
                </a:solidFill>
                <a:latin typeface="Sora Medium" pitchFamily="34" charset="0"/>
                <a:ea typeface="Sora Medium" pitchFamily="34" charset="-122"/>
                <a:cs typeface="Sora Medium" pitchFamily="34" charset="-120"/>
              </a:rPr>
              <a:t>Department</a:t>
            </a:r>
            <a:endParaRPr lang="en-US" sz="1600" dirty="0"/>
          </a:p>
        </p:txBody>
      </p:sp>
      <p:sp>
        <p:nvSpPr>
          <p:cNvPr id="6" name="Text 4"/>
          <p:cNvSpPr/>
          <p:nvPr/>
        </p:nvSpPr>
        <p:spPr>
          <a:xfrm>
            <a:off x="4387542" y="3899198"/>
            <a:ext cx="3925889" cy="264616"/>
          </a:xfrm>
          <a:prstGeom prst="rect">
            <a:avLst/>
          </a:prstGeom>
          <a:noFill/>
          <a:ln/>
        </p:spPr>
        <p:txBody>
          <a:bodyPr wrap="none" lIns="0" tIns="0" rIns="0" bIns="0" rtlCol="0" anchor="t"/>
          <a:lstStyle/>
          <a:p>
            <a:pPr algn="l" indent="0" marL="0">
              <a:lnSpc>
                <a:spcPct val="133000"/>
              </a:lnSpc>
              <a:buNone/>
            </a:pPr>
            <a:r>
              <a:rPr lang="en-US" sz="1300" dirty="0">
                <a:solidFill>
                  <a:srgbClr val="E0D6DE"/>
                </a:solidFill>
                <a:latin typeface="Noto Sans" pitchFamily="34" charset="0"/>
                <a:ea typeface="Noto Sans" pitchFamily="34" charset="-122"/>
                <a:cs typeface="Noto Sans" pitchFamily="34" charset="-120"/>
              </a:rPr>
              <a:t>AIML</a:t>
            </a:r>
            <a:endParaRPr lang="en-US" sz="1300" dirty="0"/>
          </a:p>
        </p:txBody>
      </p:sp>
      <p:sp>
        <p:nvSpPr>
          <p:cNvPr id="7" name="Text 5"/>
          <p:cNvSpPr/>
          <p:nvPr/>
        </p:nvSpPr>
        <p:spPr>
          <a:xfrm>
            <a:off x="8113609" y="3475434"/>
            <a:ext cx="3429113" cy="258465"/>
          </a:xfrm>
          <a:prstGeom prst="rect">
            <a:avLst/>
          </a:prstGeom>
          <a:noFill/>
          <a:ln/>
        </p:spPr>
        <p:txBody>
          <a:bodyPr wrap="none" lIns="0" tIns="0" rIns="0" bIns="0" rtlCol="0" anchor="t"/>
          <a:lstStyle/>
          <a:p>
            <a:pPr algn="l" indent="0" marL="0">
              <a:lnSpc>
                <a:spcPct val="104000"/>
              </a:lnSpc>
              <a:buNone/>
            </a:pPr>
            <a:r>
              <a:rPr lang="en-US" sz="1600" dirty="0">
                <a:solidFill>
                  <a:srgbClr val="97B8FF"/>
                </a:solidFill>
                <a:latin typeface="Sora Medium" pitchFamily="34" charset="0"/>
                <a:ea typeface="Sora Medium" pitchFamily="34" charset="-122"/>
                <a:cs typeface="Sora Medium" pitchFamily="34" charset="-120"/>
              </a:rPr>
              <a:t>Roll Number</a:t>
            </a:r>
            <a:endParaRPr lang="en-US" sz="1600" dirty="0"/>
          </a:p>
        </p:txBody>
      </p:sp>
      <p:sp>
        <p:nvSpPr>
          <p:cNvPr id="8" name="Text 6"/>
          <p:cNvSpPr/>
          <p:nvPr/>
        </p:nvSpPr>
        <p:spPr>
          <a:xfrm>
            <a:off x="8113609" y="3899198"/>
            <a:ext cx="4038697" cy="264616"/>
          </a:xfrm>
          <a:prstGeom prst="rect">
            <a:avLst/>
          </a:prstGeom>
          <a:noFill/>
          <a:ln/>
        </p:spPr>
        <p:txBody>
          <a:bodyPr wrap="none" lIns="0" tIns="0" rIns="0" bIns="0" rtlCol="0" anchor="t"/>
          <a:lstStyle/>
          <a:p>
            <a:pPr algn="l" indent="0" marL="0">
              <a:lnSpc>
                <a:spcPct val="133000"/>
              </a:lnSpc>
              <a:buNone/>
            </a:pPr>
            <a:r>
              <a:rPr lang="en-US" sz="1300" dirty="0">
                <a:solidFill>
                  <a:srgbClr val="E0D6DE"/>
                </a:solidFill>
                <a:latin typeface="Noto Sans" pitchFamily="34" charset="0"/>
                <a:ea typeface="Noto Sans" pitchFamily="34" charset="-122"/>
                <a:cs typeface="Noto Sans" pitchFamily="34" charset="-120"/>
              </a:rPr>
              <a:t>2117240030118</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2026-08-29T10:40:03Z</dcterms:created>
  <dcterms:modified xsi:type="dcterms:W3CDTF">2026-08-29T10:40:03Z</dcterms:modified>
</cp:coreProperties>
</file>